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7f204d4fcca496b" /><Relationship Type="http://schemas.openxmlformats.org/officeDocument/2006/relationships/extended-properties" Target="/docProps/app.xml" Id="Rcb676afd7d6e4381" /><Relationship Type="http://schemas.openxmlformats.org/officeDocument/2006/relationships/officeDocument" Target="/ppt/presentation.xml" Id="Reca8333851f8453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900be4aa76c4245"/>
  </p:sldMasterIdLst>
  <p:notesMasterIdLst>
    <p:notesMasterId xmlns:r="http://schemas.openxmlformats.org/officeDocument/2006/relationships" r:id="R542a899a81674ed0"/>
  </p:notesMasterIdLst>
  <p:sldIdLst>
    <p:sldId xmlns:r="http://schemas.openxmlformats.org/officeDocument/2006/relationships" id="256" r:id="Rc2327b5cd7a5401c"/>
    <p:sldId xmlns:r="http://schemas.openxmlformats.org/officeDocument/2006/relationships" id="257" r:id="Rc33cab96837c4920"/>
    <p:sldId xmlns:r="http://schemas.openxmlformats.org/officeDocument/2006/relationships" id="258" r:id="R26f1eed7d6b74249"/>
    <p:sldId xmlns:r="http://schemas.openxmlformats.org/officeDocument/2006/relationships" id="259" r:id="Rac8306bd916c4c42"/>
    <p:sldId xmlns:r="http://schemas.openxmlformats.org/officeDocument/2006/relationships" id="260" r:id="Ra0976d14c5ee4299"/>
    <p:sldId xmlns:r="http://schemas.openxmlformats.org/officeDocument/2006/relationships" id="261" r:id="R5020fb6775e042f7"/>
    <p:sldId xmlns:r="http://schemas.openxmlformats.org/officeDocument/2006/relationships" id="262" r:id="R6a97f17b206340c1"/>
    <p:sldId xmlns:r="http://schemas.openxmlformats.org/officeDocument/2006/relationships" id="263" r:id="Rae3d6b37e0c3495c"/>
    <p:sldId xmlns:r="http://schemas.openxmlformats.org/officeDocument/2006/relationships" id="264" r:id="R6c604166a481450e"/>
    <p:sldId xmlns:r="http://schemas.openxmlformats.org/officeDocument/2006/relationships" id="265" r:id="R28164abbaaef4d6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c162b03fc424c76" /><Relationship Type="http://schemas.openxmlformats.org/officeDocument/2006/relationships/slideMaster" Target="/ppt/slideMasters/slideMaster1.xml" Id="Ra900be4aa76c4245" /><Relationship Type="http://schemas.openxmlformats.org/officeDocument/2006/relationships/notesMaster" Target="/ppt/notesMasters/notesMaster1.xml" Id="R542a899a81674ed0" /><Relationship Type="http://schemas.openxmlformats.org/officeDocument/2006/relationships/presProps" Target="/ppt/presProps.xml" Id="Rc3ff76aa611448af" /><Relationship Type="http://schemas.openxmlformats.org/officeDocument/2006/relationships/tableStyles" Target="/ppt/tableStyles.xml" Id="R305e4a3bc3ce43ad" /><Relationship Type="http://schemas.openxmlformats.org/officeDocument/2006/relationships/slide" Target="/ppt/slides/slide1.xml" Id="Rc2327b5cd7a5401c" /><Relationship Type="http://schemas.openxmlformats.org/officeDocument/2006/relationships/slide" Target="/ppt/slides/slide2.xml" Id="Rc33cab96837c4920" /><Relationship Type="http://schemas.openxmlformats.org/officeDocument/2006/relationships/slide" Target="/ppt/slides/slide3.xml" Id="R26f1eed7d6b74249" /><Relationship Type="http://schemas.openxmlformats.org/officeDocument/2006/relationships/slide" Target="/ppt/slides/slide4.xml" Id="Rac8306bd916c4c42" /><Relationship Type="http://schemas.openxmlformats.org/officeDocument/2006/relationships/slide" Target="/ppt/slides/slide5.xml" Id="Ra0976d14c5ee4299" /><Relationship Type="http://schemas.openxmlformats.org/officeDocument/2006/relationships/slide" Target="/ppt/slides/slide6.xml" Id="R5020fb6775e042f7" /><Relationship Type="http://schemas.openxmlformats.org/officeDocument/2006/relationships/slide" Target="/ppt/slides/slide7.xml" Id="R6a97f17b206340c1" /><Relationship Type="http://schemas.openxmlformats.org/officeDocument/2006/relationships/slide" Target="/ppt/slides/slide8.xml" Id="Rae3d6b37e0c3495c" /><Relationship Type="http://schemas.openxmlformats.org/officeDocument/2006/relationships/slide" Target="/ppt/slides/slide9.xml" Id="R6c604166a481450e" /><Relationship Type="http://schemas.openxmlformats.org/officeDocument/2006/relationships/slide" Target="/ppt/slides/slide10.xml" Id="R28164abbaaef4d6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dba4221813646a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1b2047c808a440b" /><Relationship Type="http://schemas.openxmlformats.org/officeDocument/2006/relationships/notesMaster" Target="/ppt/notesMasters/notesMaster1.xml" Id="Rd728e398c8a1430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a89fc7e0e564550" /><Relationship Type="http://schemas.openxmlformats.org/officeDocument/2006/relationships/notesMaster" Target="/ppt/notesMasters/notesMaster1.xml" Id="Rd03424ae0b22455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b9c07da8c224f1b" /><Relationship Type="http://schemas.openxmlformats.org/officeDocument/2006/relationships/notesMaster" Target="/ppt/notesMasters/notesMaster1.xml" Id="R058fe6a1cea04fd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c6182a7e736429f" /><Relationship Type="http://schemas.openxmlformats.org/officeDocument/2006/relationships/notesMaster" Target="/ppt/notesMasters/notesMaster1.xml" Id="Rd558d11320ce4f9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f4f0d4763224137" /><Relationship Type="http://schemas.openxmlformats.org/officeDocument/2006/relationships/notesMaster" Target="/ppt/notesMasters/notesMaster1.xml" Id="Rda85aa9a0bbc4f1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902e370cc104713" /><Relationship Type="http://schemas.openxmlformats.org/officeDocument/2006/relationships/notesMaster" Target="/ppt/notesMasters/notesMaster1.xml" Id="Rfc1c9291d02c4d4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4090ac4bcca45d0" /><Relationship Type="http://schemas.openxmlformats.org/officeDocument/2006/relationships/notesMaster" Target="/ppt/notesMasters/notesMaster1.xml" Id="Ra8d28285c575456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294fc62c7c8475c" /><Relationship Type="http://schemas.openxmlformats.org/officeDocument/2006/relationships/notesMaster" Target="/ppt/notesMasters/notesMaster1.xml" Id="R00dc041939f64a4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1a4346263b64e42" /><Relationship Type="http://schemas.openxmlformats.org/officeDocument/2006/relationships/notesMaster" Target="/ppt/notesMasters/notesMaster1.xml" Id="Raf5c72236ad747d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8b651c46e324ad2" /><Relationship Type="http://schemas.openxmlformats.org/officeDocument/2006/relationships/notesMaster" Target="/ppt/notesMasters/notesMaster1.xml" Id="R21f3a8028a1c44e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728998022142d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fb32118466405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256f80b4a547a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f9b2babe1c48f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aada177b264e5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5d78825a1d4ec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783D63F5-AFD9-46D5-A237-2C89E93CB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2BB84A9-5D5C-4B9D-929C-C823531E8C0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23F866A1-1C01-4AE0-B00A-A585D32413C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E43B5158-D365-4288-8AE3-485C18F63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117687D-EC90-4BE1-9DA9-F3291A0F54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0110D6A0-B21D-44DF-B63C-94CB1250D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982BC06-3A6D-4D18-A8F3-140B4CEEF14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1CF4627C-04F5-4D1C-BAFB-5FFD74D5BDB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7CC2C286-C257-4E6C-ACB1-C6902F6A4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E4245F4-75C6-4BF0-8398-E8CEC8833D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F12E494-74CC-4119-A078-5306C038E53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405F853-073B-4C33-9DFD-EE157B18D5B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71EEC775-CF85-47BD-9D62-C2DDC52F4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9492077-AF58-43BA-B159-149144A978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9BB4D3B-1B1A-4939-A649-17940BB7A34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a5ae587f5804a71" /><Relationship Type="http://schemas.openxmlformats.org/officeDocument/2006/relationships/slideLayout" Target="/ppt/slideLayouts/slideLayout1.xml" Id="Ra18cd20fdc5f448d" /><Relationship Type="http://schemas.openxmlformats.org/officeDocument/2006/relationships/slideLayout" Target="/ppt/slideLayouts/slideLayout2.xml" Id="R43180b63b22946fc" /><Relationship Type="http://schemas.openxmlformats.org/officeDocument/2006/relationships/slideLayout" Target="/ppt/slideLayouts/slideLayout3.xml" Id="Re77ab704a70647b8" /><Relationship Type="http://schemas.openxmlformats.org/officeDocument/2006/relationships/slideLayout" Target="/ppt/slideLayouts/slideLayout4.xml" Id="R2731d5adfc114975" /><Relationship Type="http://schemas.openxmlformats.org/officeDocument/2006/relationships/slideLayout" Target="/ppt/slideLayouts/slideLayout5.xml" Id="Rc09370686e64414d" /><Relationship Type="http://schemas.openxmlformats.org/officeDocument/2006/relationships/slideLayout" Target="/ppt/slideLayouts/slideLayout6.xml" Id="Rcef1397c987e420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18cd20fdc5f448d"/>
    <p:sldLayoutId xmlns:r="http://schemas.openxmlformats.org/officeDocument/2006/relationships" id="2147483650" r:id="R43180b63b22946fc"/>
    <p:sldLayoutId xmlns:r="http://schemas.openxmlformats.org/officeDocument/2006/relationships" id="2147483651" r:id="Re77ab704a70647b8"/>
    <p:sldLayoutId xmlns:r="http://schemas.openxmlformats.org/officeDocument/2006/relationships" id="2147483652" r:id="R2731d5adfc114975"/>
    <p:sldLayoutId xmlns:r="http://schemas.openxmlformats.org/officeDocument/2006/relationships" id="2147483653" r:id="Rc09370686e64414d"/>
    <p:sldLayoutId xmlns:r="http://schemas.openxmlformats.org/officeDocument/2006/relationships" id="2147483654" r:id="Rcef1397c987e420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163a38613848cf" /><Relationship Type="http://schemas.openxmlformats.org/officeDocument/2006/relationships/notesSlide" Target="/ppt/notesSlides/notesSlide1.xml" Id="Rc6dc2c4d568c4b6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562ef2927f40a7" /><Relationship Type="http://schemas.openxmlformats.org/officeDocument/2006/relationships/notesSlide" Target="/ppt/notesSlides/notesSlide2.xml" Id="Re2d4be137a2b46e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2685404ccf4bfe" /><Relationship Type="http://schemas.openxmlformats.org/officeDocument/2006/relationships/notesSlide" Target="/ppt/notesSlides/notesSlide3.xml" Id="R65994da78c14492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2b57c343484d8a" /><Relationship Type="http://schemas.openxmlformats.org/officeDocument/2006/relationships/notesSlide" Target="/ppt/notesSlides/notesSlide4.xml" Id="R34e6bfc0f826486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6df6f7ddd34e25" /><Relationship Type="http://schemas.openxmlformats.org/officeDocument/2006/relationships/notesSlide" Target="/ppt/notesSlides/notesSlide5.xml" Id="R221b6588db054e6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b4b1541477449e" /><Relationship Type="http://schemas.openxmlformats.org/officeDocument/2006/relationships/notesSlide" Target="/ppt/notesSlides/notesSlide6.xml" Id="R76056f0f5dcb4ab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295b281f5149db" /><Relationship Type="http://schemas.openxmlformats.org/officeDocument/2006/relationships/notesSlide" Target="/ppt/notesSlides/notesSlide7.xml" Id="Rb545ad8b5f6a4c9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b1f5e3077e4e8a" /><Relationship Type="http://schemas.openxmlformats.org/officeDocument/2006/relationships/notesSlide" Target="/ppt/notesSlides/notesSlide8.xml" Id="Rc50dbfedd72d489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d2941c171748f5" /><Relationship Type="http://schemas.openxmlformats.org/officeDocument/2006/relationships/notesSlide" Target="/ppt/notesSlides/notesSlide9.xml" Id="R120692de15cb49c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91db5664c11418c" /><Relationship Type="http://schemas.openxmlformats.org/officeDocument/2006/relationships/notesSlide" Target="/ppt/notesSlides/notesSlide10.xml" Id="R94a35a9cd25e420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E5AA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015E61-9C3A-4AB5-B1EE-E7B99AEBC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94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5AE4A5-F0C3-47F9-AEB2-1C5A891A8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DCEBFF"/>
                </a:solidFill>
                <a:latin typeface="맑은 고딕"/>
                <a:ea typeface="맑은 고딕"/>
                <a:cs typeface="맑은 고딕"/>
              </a:defRPr>
            </a:pPr>
            <a:r>
              <a:rPr sz="1875" b="1">
                <a:solidFill>
                  <a:srgbClr val="DCEBFF"/>
                </a:solidFill>
                <a:latin typeface="맑은 고딕"/>
                <a:ea typeface="맑은 고딕"/>
                <a:cs typeface="맑은 고딕"/>
              </a:rPr>
              <a:t>NEXORA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AA6996-8A05-4128-9FC2-0AE3F8C4A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9906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3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3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보안 위협 관제와</a:t>
            </a:r>
          </a:p>
          <a:p xmlns:a="http://schemas.openxmlformats.org/drawingml/2006/main">
            <a:pPr>
              <a:buNone/>
              <a:defRPr sz="3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3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인시던트 대응 웹 서비스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F7651F-6782-471B-B9BD-EBA088D2B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096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94C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F192DD-F400-4738-9502-069E43495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33875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217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Web Security  +  SentinelOps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CA51E7-FCF2-42D6-BA37-E12A86780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DCEBFF"/>
                </a:solidFill>
                <a:latin typeface="맑은 고딕"/>
                <a:ea typeface="맑은 고딕"/>
                <a:cs typeface="맑은 고딕"/>
              </a:defRPr>
            </a:pPr>
            <a:r>
              <a:rPr sz="1575" b="0">
                <a:solidFill>
                  <a:srgbClr val="DCEBFF"/>
                </a:solidFill>
                <a:latin typeface="맑은 고딕"/>
                <a:ea typeface="맑은 고딕"/>
                <a:cs typeface="맑은 고딕"/>
              </a:rPr>
              <a:t>세미 팀프로젝트 결과보고서 · 1조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E451D1-E471-4276-9F8A-76AB002D3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5787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김순민 · 유승민 · 강인선 · 이현우 · 박서현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B0EBB5-D5F2-4453-8502-389566054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DCEBFF"/>
                </a:solidFill>
                <a:latin typeface="맑은 고딕"/>
                <a:ea typeface="맑은 고딕"/>
                <a:cs typeface="맑은 고딕"/>
              </a:defRPr>
            </a:pPr>
            <a:r>
              <a:rPr sz="1200" b="0">
                <a:solidFill>
                  <a:srgbClr val="DCEBFF"/>
                </a:solidFill>
                <a:latin typeface="맑은 고딕"/>
                <a:ea typeface="맑은 고딕"/>
                <a:cs typeface="맑은 고딕"/>
              </a:rPr>
              <a:t>2026.10.07 기준  |  발표 예정 2026.10.26</a:t>
            </a:r>
          </a:p>
        </p:txBody>
      </p:sp>
    </p:spTree>
    <p:extLst>
      <p:ext uri="{BB962C8B-B14F-4D97-AF65-F5344CB8AC3E}">
        <p14:creationId xmlns:p14="http://schemas.microsoft.com/office/powerpoint/2010/main" val="8581521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7D36D4-D513-439E-BAB9-06D42E867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AA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D2208E-A0A3-425E-A0C7-1B4229BCE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94C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56F853-C84E-49C9-9470-63888967A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E5AA8"/>
                </a:solidFill>
                <a:latin typeface="맑은 고딕"/>
                <a:ea typeface="맑은 고딕"/>
                <a:cs typeface="맑은 고딕"/>
              </a:defRPr>
            </a:pPr>
            <a:r>
              <a:rPr sz="1200" b="1">
                <a:solidFill>
                  <a:srgbClr val="1E5AA8"/>
                </a:solidFill>
                <a:latin typeface="맑은 고딕"/>
                <a:ea typeface="맑은 고딕"/>
                <a:cs typeface="맑은 고딕"/>
              </a:rPr>
              <a:t>NEXORA  /  PROJECT RESULT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4683F1-6460-47DF-9BAF-D37591AD9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11144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52A43"/>
                </a:solidFill>
                <a:latin typeface="맑은 고딕"/>
                <a:ea typeface="맑은 고딕"/>
                <a:cs typeface="맑은 고딕"/>
              </a:defRPr>
            </a:pPr>
            <a:r>
              <a:rPr sz="2550" b="1">
                <a:solidFill>
                  <a:srgbClr val="152A43"/>
                </a:solidFill>
                <a:latin typeface="맑은 고딕"/>
                <a:ea typeface="맑은 고딕"/>
                <a:cs typeface="맑은 고딕"/>
              </a:rPr>
              <a:t>발표 구성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3AE7EF-E0D8-4CE5-9381-F403B91C9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26273"/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0">
                <a:solidFill>
                  <a:srgbClr val="526273"/>
                </a:solidFill>
                <a:latin typeface="맑은 고딕"/>
                <a:ea typeface="맑은 고딕"/>
                <a:cs typeface="맑은 고딕"/>
              </a:rPr>
              <a:t>서비스 문제부터 구현 범위, 역할, 검증 계획까지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C081F7-F350-47D8-B35E-E2A560154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D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6F7530-182D-4C3F-86D4-612E0D0E2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26273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526273"/>
                </a:solidFill>
                <a:latin typeface="맑은 고딕"/>
                <a:ea typeface="맑은 고딕"/>
                <a:cs typeface="맑은 고딕"/>
              </a:rPr>
              <a:t>NEXORA  ·  1조  ·  2026.10.07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81F829-11AC-4D89-82E5-68739F28E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8652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E5AA8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1">
                <a:solidFill>
                  <a:srgbClr val="1E5AA8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81C3A2-325B-4301-8445-ADC0BED8F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66900"/>
            <a:ext cx="10477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5BC248-F3A7-40DE-8806-5FF61A9E4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5262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E5AA8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>
                <a:solidFill>
                  <a:srgbClr val="1E5AA8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17DCD3-D55F-4C36-9452-B836F505F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952625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152A43"/>
                </a:solidFill>
                <a:latin typeface="맑은 고딕"/>
                <a:ea typeface="맑은 고딕"/>
                <a:cs typeface="맑은 고딕"/>
              </a:defRPr>
            </a:pPr>
            <a:r>
              <a:rPr sz="1725" b="1">
                <a:solidFill>
                  <a:srgbClr val="152A43"/>
                </a:solidFill>
                <a:latin typeface="맑은 고딕"/>
                <a:ea typeface="맑은 고딕"/>
                <a:cs typeface="맑은 고딕"/>
              </a:rPr>
              <a:t>프로젝트 배경과 목표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AEB159-041A-4C65-B463-C183ABFC1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47950"/>
            <a:ext cx="10477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2F6FB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3B28EB-D6DF-41BC-9FD8-4689D94D0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3367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E5AA8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>
                <a:solidFill>
                  <a:srgbClr val="1E5AA8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2E17AC-BB09-44AD-AB29-0B2E98D48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733675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152A43"/>
                </a:solidFill>
                <a:latin typeface="맑은 고딕"/>
                <a:ea typeface="맑은 고딕"/>
                <a:cs typeface="맑은 고딕"/>
              </a:defRPr>
            </a:pPr>
            <a:r>
              <a:rPr sz="1725" b="1">
                <a:solidFill>
                  <a:srgbClr val="152A43"/>
                </a:solidFill>
                <a:latin typeface="맑은 고딕"/>
                <a:ea typeface="맑은 고딕"/>
                <a:cs typeface="맑은 고딕"/>
              </a:rPr>
              <a:t>서비스 범위와 주요 기능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FE1338-9336-45DB-A347-94EAF717A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29000"/>
            <a:ext cx="10477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EFCAD0-3349-43D4-8E7A-078467128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1472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E5AA8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>
                <a:solidFill>
                  <a:srgbClr val="1E5AA8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F52325-16DC-4816-95D2-E8EC1CCA4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514725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152A43"/>
                </a:solidFill>
                <a:latin typeface="맑은 고딕"/>
                <a:ea typeface="맑은 고딕"/>
                <a:cs typeface="맑은 고딕"/>
              </a:defRPr>
            </a:pPr>
            <a:r>
              <a:rPr sz="1725" b="1">
                <a:solidFill>
                  <a:srgbClr val="152A43"/>
                </a:solidFill>
                <a:latin typeface="맑은 고딕"/>
                <a:ea typeface="맑은 고딕"/>
                <a:cs typeface="맑은 고딕"/>
              </a:rPr>
              <a:t>시스템 구조와 데이터 흐름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187700-468F-4C2A-BBEB-3ABC728A6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10050"/>
            <a:ext cx="10477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2F6FB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9F753C-0FFE-4B13-ADB0-C0785B0F3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9577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E5AA8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>
                <a:solidFill>
                  <a:srgbClr val="1E5AA8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2B3408-F187-45D2-A864-1B03232DF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295775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152A43"/>
                </a:solidFill>
                <a:latin typeface="맑은 고딕"/>
                <a:ea typeface="맑은 고딕"/>
                <a:cs typeface="맑은 고딕"/>
              </a:defRPr>
            </a:pPr>
            <a:r>
              <a:rPr sz="1725" b="1">
                <a:solidFill>
                  <a:srgbClr val="152A43"/>
                </a:solidFill>
                <a:latin typeface="맑은 고딕"/>
                <a:ea typeface="맑은 고딕"/>
                <a:cs typeface="맑은 고딕"/>
              </a:rPr>
              <a:t>팀 업무 분담과 통합 방식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1169FD-D886-4C50-882F-30DD8AD9F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91100"/>
            <a:ext cx="10477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12B35F-4413-4CB9-A43C-52B58CAFE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7682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E5AA8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>
                <a:solidFill>
                  <a:srgbClr val="1E5AA8"/>
                </a:solidFill>
                <a:latin typeface="맑은 고딕"/>
                <a:ea typeface="맑은 고딕"/>
                <a:cs typeface="맑은 고딕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8EB192-68EB-4ADE-8DDE-665BDE2BB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076825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152A43"/>
                </a:solidFill>
                <a:latin typeface="맑은 고딕"/>
                <a:ea typeface="맑은 고딕"/>
                <a:cs typeface="맑은 고딕"/>
              </a:defRPr>
            </a:pPr>
            <a:r>
              <a:rPr sz="1725" b="1">
                <a:solidFill>
                  <a:srgbClr val="152A43"/>
                </a:solidFill>
                <a:latin typeface="맑은 고딕"/>
                <a:ea typeface="맑은 고딕"/>
                <a:cs typeface="맑은 고딕"/>
              </a:rPr>
              <a:t>현재 구현 상태와 검증·향후 계획</a:t>
            </a:r>
          </a:p>
        </p:txBody>
      </p:sp>
    </p:spTree>
    <p:extLst>
      <p:ext uri="{BB962C8B-B14F-4D97-AF65-F5344CB8AC3E}">
        <p14:creationId xmlns:p14="http://schemas.microsoft.com/office/powerpoint/2010/main" val="125104911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AF46A7-18BD-4253-921B-E74B60B3A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AA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86BA17-A9AF-4364-A251-A877BC2C5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94C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C21CF5-3DC1-4893-AEC1-05E79A0CA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E5AA8"/>
                </a:solidFill>
                <a:latin typeface="맑은 고딕"/>
                <a:ea typeface="맑은 고딕"/>
                <a:cs typeface="맑은 고딕"/>
              </a:defRPr>
            </a:pPr>
            <a:r>
              <a:rPr sz="1200" b="1">
                <a:solidFill>
                  <a:srgbClr val="1E5AA8"/>
                </a:solidFill>
                <a:latin typeface="맑은 고딕"/>
                <a:ea typeface="맑은 고딕"/>
                <a:cs typeface="맑은 고딕"/>
              </a:rPr>
              <a:t>NEXORA  /  PROJECT RESULT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6DF63F-6105-4A09-839E-B835C8909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11144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52A43"/>
                </a:solidFill>
                <a:latin typeface="맑은 고딕"/>
                <a:ea typeface="맑은 고딕"/>
                <a:cs typeface="맑은 고딕"/>
              </a:defRPr>
            </a:pPr>
            <a:r>
              <a:rPr sz="2550" b="1">
                <a:solidFill>
                  <a:srgbClr val="152A43"/>
                </a:solidFill>
                <a:latin typeface="맑은 고딕"/>
                <a:ea typeface="맑은 고딕"/>
                <a:cs typeface="맑은 고딕"/>
              </a:rPr>
              <a:t>프로젝트 개요와 목표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F5BADD-BECE-437B-8B9D-6C3BD742A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26273"/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0">
                <a:solidFill>
                  <a:srgbClr val="526273"/>
                </a:solidFill>
                <a:latin typeface="맑은 고딕"/>
                <a:ea typeface="맑은 고딕"/>
                <a:cs typeface="맑은 고딕"/>
              </a:rPr>
              <a:t>NEXORA의 내부 보안 운영 흐름을 웹 애플리케이션으로 구현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DC6500-35F0-460E-8481-323B6967D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D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2D5386-F37B-41F9-A65B-2962F7898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26273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526273"/>
                </a:solidFill>
                <a:latin typeface="맑은 고딕"/>
                <a:ea typeface="맑은 고딕"/>
                <a:cs typeface="맑은 고딕"/>
              </a:rPr>
              <a:t>NEXORA  ·  1조  ·  2026.10.07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754026-41CE-4AD5-9DFB-A19838334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8652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E5AA8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1">
                <a:solidFill>
                  <a:srgbClr val="1E5AA8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B1E350-1D9B-42C7-8EC9-84FA05B08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050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C94C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5DB98D-97BC-4C83-A768-5AFA9EA8A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809750"/>
            <a:ext cx="103060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152A43"/>
                </a:solidFill>
                <a:latin typeface="맑은 고딕"/>
                <a:ea typeface="맑은 고딕"/>
                <a:cs typeface="맑은 고딕"/>
              </a:defRPr>
            </a:pPr>
            <a:r>
              <a:rPr sz="1725" b="0">
                <a:solidFill>
                  <a:srgbClr val="152A43"/>
                </a:solidFill>
                <a:latin typeface="맑은 고딕"/>
                <a:ea typeface="맑은 고딕"/>
                <a:cs typeface="맑은 고딕"/>
              </a:rPr>
              <a:t>웹 요청과 AI 프롬프트 위협, 서버 오류를 한 곳에서 확인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90D541-7217-4B81-8BE8-925CC0DB6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98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C94C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AB962F-6A30-40E0-BFC3-DD4AF09F2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14600"/>
            <a:ext cx="103060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152A43"/>
                </a:solidFill>
                <a:latin typeface="맑은 고딕"/>
                <a:ea typeface="맑은 고딕"/>
                <a:cs typeface="맑은 고딕"/>
              </a:defRPr>
            </a:pPr>
            <a:r>
              <a:rPr sz="1725" b="0">
                <a:solidFill>
                  <a:srgbClr val="152A43"/>
                </a:solidFill>
                <a:latin typeface="맑은 고딕"/>
                <a:ea typeface="맑은 고딕"/>
                <a:cs typeface="맑은 고딕"/>
              </a:rPr>
              <a:t>탐지 이벤트를 기록·분류하고 관리자 대응 이력과 알림으로 연결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E42392-9F7C-4AAB-9B43-B2B05CFA0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147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C94C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30510D-4400-48C5-93D5-B035CF1CC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19450"/>
            <a:ext cx="103060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152A43"/>
                </a:solidFill>
                <a:latin typeface="맑은 고딕"/>
                <a:ea typeface="맑은 고딕"/>
                <a:cs typeface="맑은 고딕"/>
              </a:defRPr>
            </a:pPr>
            <a:r>
              <a:rPr sz="1725" b="0">
                <a:solidFill>
                  <a:srgbClr val="152A43"/>
                </a:solidFill>
                <a:latin typeface="맑은 고딕"/>
                <a:ea typeface="맑은 고딕"/>
                <a:cs typeface="맑은 고딕"/>
              </a:rPr>
              <a:t>회원·커뮤니티·문의 기능을 포함한 통합형 기업 보안 사이트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EC6A26-7F2F-405B-8F76-1A75AF2BA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195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C94C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45AB93-654D-412F-8D5F-248A73485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24300"/>
            <a:ext cx="103060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152A43"/>
                </a:solidFill>
                <a:latin typeface="맑은 고딕"/>
                <a:ea typeface="맑은 고딕"/>
                <a:cs typeface="맑은 고딕"/>
              </a:defRPr>
            </a:pPr>
            <a:r>
              <a:rPr sz="1725" b="0">
                <a:solidFill>
                  <a:srgbClr val="152A43"/>
                </a:solidFill>
                <a:latin typeface="맑은 고딕"/>
                <a:ea typeface="맑은 고딕"/>
                <a:cs typeface="맑은 고딕"/>
              </a:rPr>
              <a:t>방화벽 차단 제품이 아니라 탐지·관제·대응 지원 기능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CE8D64-1EAA-4A99-8087-86829C7CB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57750"/>
            <a:ext cx="10572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2F6F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D74795-B321-4E5D-A4CF-9A300714F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19675"/>
            <a:ext cx="138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E5AA8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1">
                <a:solidFill>
                  <a:srgbClr val="1E5AA8"/>
                </a:solidFill>
                <a:latin typeface="맑은 고딕"/>
                <a:ea typeface="맑은 고딕"/>
                <a:cs typeface="맑은 고딕"/>
              </a:rPr>
              <a:t>핵심 가치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2F8871-39A6-4289-B4BC-31279F4AB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019675"/>
            <a:ext cx="847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52A43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>
                <a:solidFill>
                  <a:srgbClr val="152A43"/>
                </a:solidFill>
                <a:latin typeface="맑은 고딕"/>
                <a:ea typeface="맑은 고딕"/>
                <a:cs typeface="맑은 고딕"/>
              </a:rPr>
              <a:t>이벤트 발생 → 규칙 분류 → 관제 확인 → 분석·알림 → 상태 기록</a:t>
            </a:r>
          </a:p>
        </p:txBody>
      </p:sp>
    </p:spTree>
    <p:extLst>
      <p:ext uri="{BB962C8B-B14F-4D97-AF65-F5344CB8AC3E}">
        <p14:creationId xmlns:p14="http://schemas.microsoft.com/office/powerpoint/2010/main" val="34062101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D6DAD7A-D6E4-4511-9499-516B3BDA3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AA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0F1856-1BB2-44BC-A49D-7F65F1120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94C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34A13D-753D-4BA2-A854-5F826FE3A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E5AA8"/>
                </a:solidFill>
                <a:latin typeface="맑은 고딕"/>
                <a:ea typeface="맑은 고딕"/>
                <a:cs typeface="맑은 고딕"/>
              </a:defRPr>
            </a:pPr>
            <a:r>
              <a:rPr sz="1200" b="1">
                <a:solidFill>
                  <a:srgbClr val="1E5AA8"/>
                </a:solidFill>
                <a:latin typeface="맑은 고딕"/>
                <a:ea typeface="맑은 고딕"/>
                <a:cs typeface="맑은 고딕"/>
              </a:rPr>
              <a:t>NEXORA  /  PROJECT RESULT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FCAB52-6D9C-4543-9CB0-C34B7FC7A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11144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52A43"/>
                </a:solidFill>
                <a:latin typeface="맑은 고딕"/>
                <a:ea typeface="맑은 고딕"/>
                <a:cs typeface="맑은 고딕"/>
              </a:defRPr>
            </a:pPr>
            <a:r>
              <a:rPr sz="2550" b="1">
                <a:solidFill>
                  <a:srgbClr val="152A43"/>
                </a:solidFill>
                <a:latin typeface="맑은 고딕"/>
                <a:ea typeface="맑은 고딕"/>
                <a:cs typeface="맑은 고딕"/>
              </a:rPr>
              <a:t>서비스 범위와 주요 기능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D3366A-7BAD-4A8D-BD5E-8B94921C4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26273"/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0">
                <a:solidFill>
                  <a:srgbClr val="526273"/>
                </a:solidFill>
                <a:latin typeface="맑은 고딕"/>
                <a:ea typeface="맑은 고딕"/>
                <a:cs typeface="맑은 고딕"/>
              </a:rPr>
              <a:t>Web Hosting·Web Payment는 사업·인프라 요건이 커 현재 기획에서 제외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9416F7-BE36-460C-A04B-56287993B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D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2D28B7-66BF-43AE-84C7-8913D2FFE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26273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526273"/>
                </a:solidFill>
                <a:latin typeface="맑은 고딕"/>
                <a:ea typeface="맑은 고딕"/>
                <a:cs typeface="맑은 고딕"/>
              </a:rPr>
              <a:t>NEXORA  ·  1조  ·  2026.10.07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141BB3-B28F-4D1C-8636-74065D309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8652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E5AA8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1">
                <a:solidFill>
                  <a:srgbClr val="1E5AA8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ADD5F4-9A36-491F-AD51-FBE961E60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81200"/>
            <a:ext cx="257175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8FAFD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190A34-AC0F-4C4F-9C33-C3B25C266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81200"/>
            <a:ext cx="25717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5AA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EFAF79-5FC4-4FFC-9D92-3B0C51142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66950"/>
            <a:ext cx="2143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E5AA8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>
                <a:solidFill>
                  <a:srgbClr val="1E5AA8"/>
                </a:solidFill>
                <a:latin typeface="맑은 고딕"/>
                <a:ea typeface="맑은 고딕"/>
                <a:cs typeface="맑은 고딕"/>
              </a:rPr>
              <a:t>Web Security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FA4F84-009C-4840-A81B-CAE101B0C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00350"/>
            <a:ext cx="21431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52A43"/>
                </a:solidFill>
                <a:latin typeface="맑은 고딕"/>
                <a:ea typeface="맑은 고딕"/>
                <a:cs typeface="맑은 고딕"/>
              </a:defRPr>
            </a:pPr>
            <a:r>
              <a:rPr sz="1800" b="1">
                <a:solidFill>
                  <a:srgbClr val="152A43"/>
                </a:solidFill>
                <a:latin typeface="맑은 고딕"/>
                <a:ea typeface="맑은 고딕"/>
                <a:cs typeface="맑은 고딕"/>
              </a:rPr>
              <a:t>웹 요청 위협</a:t>
            </a:r>
          </a:p>
          <a:p xmlns:a="http://schemas.openxmlformats.org/drawingml/2006/main">
            <a:pPr>
              <a:buNone/>
              <a:defRPr sz="1800" b="1">
                <a:solidFill>
                  <a:srgbClr val="152A43"/>
                </a:solidFill>
                <a:latin typeface="맑은 고딕"/>
                <a:ea typeface="맑은 고딕"/>
                <a:cs typeface="맑은 고딕"/>
              </a:defRPr>
            </a:pPr>
            <a:r>
              <a:rPr sz="1800" b="1">
                <a:solidFill>
                  <a:srgbClr val="152A43"/>
                </a:solidFill>
                <a:latin typeface="맑은 고딕"/>
                <a:ea typeface="맑은 고딕"/>
                <a:cs typeface="맑은 고딕"/>
              </a:rPr>
              <a:t>AI 프롬프트 위협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B4F2B9-E926-4E44-A1CB-E9EF76449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90950"/>
            <a:ext cx="2143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26273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0">
                <a:solidFill>
                  <a:srgbClr val="526273"/>
                </a:solidFill>
                <a:latin typeface="맑은 고딕"/>
                <a:ea typeface="맑은 고딕"/>
                <a:cs typeface="맑은 고딕"/>
              </a:rPr>
              <a:t>탐지·마스킹·이벤트 기록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6F25FF-C7FE-4398-AA87-EE22969DA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981200"/>
            <a:ext cx="257175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2F6FB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0CF1D2-2BF4-4F6E-994B-D39AE6013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981200"/>
            <a:ext cx="25717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C94C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711F67-53A6-4F51-9BAE-69FE9EEBE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266950"/>
            <a:ext cx="2143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E5AA8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>
                <a:solidFill>
                  <a:srgbClr val="1E5AA8"/>
                </a:solidFill>
                <a:latin typeface="맑은 고딕"/>
                <a:ea typeface="맑은 고딕"/>
                <a:cs typeface="맑은 고딕"/>
              </a:rPr>
              <a:t>SentinelOps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E93BE6-9859-4651-969C-4AE024633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800350"/>
            <a:ext cx="21431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52A43"/>
                </a:solidFill>
                <a:latin typeface="맑은 고딕"/>
                <a:ea typeface="맑은 고딕"/>
                <a:cs typeface="맑은 고딕"/>
              </a:defRPr>
            </a:pPr>
            <a:r>
              <a:rPr sz="1800" b="1">
                <a:solidFill>
                  <a:srgbClr val="152A43"/>
                </a:solidFill>
                <a:latin typeface="맑은 고딕"/>
                <a:ea typeface="맑은 고딕"/>
                <a:cs typeface="맑은 고딕"/>
              </a:rPr>
              <a:t>Java 예외</a:t>
            </a:r>
          </a:p>
          <a:p xmlns:a="http://schemas.openxmlformats.org/drawingml/2006/main">
            <a:pPr>
              <a:buNone/>
              <a:defRPr sz="1800" b="1">
                <a:solidFill>
                  <a:srgbClr val="152A43"/>
                </a:solidFill>
                <a:latin typeface="맑은 고딕"/>
                <a:ea typeface="맑은 고딕"/>
                <a:cs typeface="맑은 고딕"/>
              </a:defRPr>
            </a:pPr>
            <a:r>
              <a:rPr sz="1800" b="1">
                <a:solidFill>
                  <a:srgbClr val="152A43"/>
                </a:solidFill>
                <a:latin typeface="맑은 고딕"/>
                <a:ea typeface="맑은 고딕"/>
                <a:cs typeface="맑은 고딕"/>
              </a:rPr>
              <a:t>HTTP 5XX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E4B81E-C1E8-43A6-9FFE-85144604A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790950"/>
            <a:ext cx="2143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26273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0">
                <a:solidFill>
                  <a:srgbClr val="526273"/>
                </a:solidFill>
                <a:latin typeface="맑은 고딕"/>
                <a:ea typeface="맑은 고딕"/>
                <a:cs typeface="맑은 고딕"/>
              </a:rPr>
              <a:t>심각도·이력·장애 대응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202B8E-2749-4BA8-B90E-537E6A70B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81200"/>
            <a:ext cx="257175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8FAFD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5FF347-30ED-4E2A-AA89-52A23F6DA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81200"/>
            <a:ext cx="25717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5AA8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81314E-014E-469A-B9EF-35ACFBBD6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66950"/>
            <a:ext cx="2143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E5AA8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>
                <a:solidFill>
                  <a:srgbClr val="1E5AA8"/>
                </a:solidFill>
                <a:latin typeface="맑은 고딕"/>
                <a:ea typeface="맑은 고딕"/>
                <a:cs typeface="맑은 고딕"/>
              </a:rPr>
              <a:t>운영 기능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EFE0A5-EF06-4B4D-A99E-3EF7A2BA7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00350"/>
            <a:ext cx="21431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52A43"/>
                </a:solidFill>
                <a:latin typeface="맑은 고딕"/>
                <a:ea typeface="맑은 고딕"/>
                <a:cs typeface="맑은 고딕"/>
              </a:defRPr>
            </a:pPr>
            <a:r>
              <a:rPr sz="1800" b="1">
                <a:solidFill>
                  <a:srgbClr val="152A43"/>
                </a:solidFill>
                <a:latin typeface="맑은 고딕"/>
                <a:ea typeface="맑은 고딕"/>
                <a:cs typeface="맑은 고딕"/>
              </a:rPr>
              <a:t>회원·커뮤니티</a:t>
            </a:r>
          </a:p>
          <a:p xmlns:a="http://schemas.openxmlformats.org/drawingml/2006/main">
            <a:pPr>
              <a:buNone/>
              <a:defRPr sz="1800" b="1">
                <a:solidFill>
                  <a:srgbClr val="152A43"/>
                </a:solidFill>
                <a:latin typeface="맑은 고딕"/>
                <a:ea typeface="맑은 고딕"/>
                <a:cs typeface="맑은 고딕"/>
              </a:defRPr>
            </a:pPr>
            <a:r>
              <a:rPr sz="1800" b="1">
                <a:solidFill>
                  <a:srgbClr val="152A43"/>
                </a:solidFill>
                <a:latin typeface="맑은 고딕"/>
                <a:ea typeface="맑은 고딕"/>
                <a:cs typeface="맑은 고딕"/>
              </a:rPr>
              <a:t>문의·관리자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D755B3-E1F0-44C6-BA60-3D1D57249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90950"/>
            <a:ext cx="2143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26273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0">
                <a:solidFill>
                  <a:srgbClr val="526273"/>
                </a:solidFill>
                <a:latin typeface="맑은 고딕"/>
                <a:ea typeface="맑은 고딕"/>
                <a:cs typeface="맑은 고딕"/>
              </a:rPr>
              <a:t>사용자·관리자 서비스 연결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124377-8379-4BD6-B126-7F090D170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57175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2F6FB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228381A-17DA-4752-830A-2463208EB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5717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5AA8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ED4430B-5A9F-42B0-BE30-9ABF24DCC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266950"/>
            <a:ext cx="2143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E5AA8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>
                <a:solidFill>
                  <a:srgbClr val="1E5AA8"/>
                </a:solidFill>
                <a:latin typeface="맑은 고딕"/>
                <a:ea typeface="맑은 고딕"/>
                <a:cs typeface="맑은 고딕"/>
              </a:rPr>
              <a:t>후속 계획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6FFD994-0CA6-4D69-AA7F-5B8680582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800350"/>
            <a:ext cx="21431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52A43"/>
                </a:solidFill>
                <a:latin typeface="맑은 고딕"/>
                <a:ea typeface="맑은 고딕"/>
                <a:cs typeface="맑은 고딕"/>
              </a:defRPr>
            </a:pPr>
            <a:r>
              <a:rPr sz="1800" b="1">
                <a:solidFill>
                  <a:srgbClr val="152A43"/>
                </a:solidFill>
                <a:latin typeface="맑은 고딕"/>
                <a:ea typeface="맑은 고딕"/>
                <a:cs typeface="맑은 고딕"/>
              </a:rPr>
              <a:t>무료/유료 API</a:t>
            </a:r>
          </a:p>
          <a:p xmlns:a="http://schemas.openxmlformats.org/drawingml/2006/main">
            <a:pPr>
              <a:buNone/>
              <a:defRPr sz="1800" b="1">
                <a:solidFill>
                  <a:srgbClr val="152A43"/>
                </a:solidFill>
                <a:latin typeface="맑은 고딕"/>
                <a:ea typeface="맑은 고딕"/>
                <a:cs typeface="맑은 고딕"/>
              </a:defRPr>
            </a:pPr>
            <a:r>
              <a:rPr sz="1800" b="1">
                <a:solidFill>
                  <a:srgbClr val="152A43"/>
                </a:solidFill>
                <a:latin typeface="맑은 고딕"/>
                <a:ea typeface="맑은 고딕"/>
                <a:cs typeface="맑은 고딕"/>
              </a:rPr>
              <a:t>구독·사용량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1E2825C-26CC-483E-9F26-A68615B65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790950"/>
            <a:ext cx="2143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26273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0">
                <a:solidFill>
                  <a:srgbClr val="526273"/>
                </a:solidFill>
                <a:latin typeface="맑은 고딕"/>
                <a:ea typeface="맑은 고딕"/>
                <a:cs typeface="맑은 고딕"/>
              </a:rPr>
              <a:t>이번 시연 범위와 분리</a:t>
            </a:r>
          </a:p>
        </p:txBody>
      </p:sp>
    </p:spTree>
    <p:extLst>
      <p:ext uri="{BB962C8B-B14F-4D97-AF65-F5344CB8AC3E}">
        <p14:creationId xmlns:p14="http://schemas.microsoft.com/office/powerpoint/2010/main" val="73532285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EBC43C3-2828-448A-A6E3-4B2952CA3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AA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E86FBF-FE69-41DA-920A-136E57235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94C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D8E22C-0E4F-490B-80E0-36BC0B971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E5AA8"/>
                </a:solidFill>
                <a:latin typeface="맑은 고딕"/>
                <a:ea typeface="맑은 고딕"/>
                <a:cs typeface="맑은 고딕"/>
              </a:defRPr>
            </a:pPr>
            <a:r>
              <a:rPr sz="1200" b="1">
                <a:solidFill>
                  <a:srgbClr val="1E5AA8"/>
                </a:solidFill>
                <a:latin typeface="맑은 고딕"/>
                <a:ea typeface="맑은 고딕"/>
                <a:cs typeface="맑은 고딕"/>
              </a:rPr>
              <a:t>NEXORA  /  PROJECT RESULT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45E6A3-09C7-47C0-AAEF-D2E3F7D32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11144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52A43"/>
                </a:solidFill>
                <a:latin typeface="맑은 고딕"/>
                <a:ea typeface="맑은 고딕"/>
                <a:cs typeface="맑은 고딕"/>
              </a:defRPr>
            </a:pPr>
            <a:r>
              <a:rPr sz="2550" b="1">
                <a:solidFill>
                  <a:srgbClr val="152A43"/>
                </a:solidFill>
                <a:latin typeface="맑은 고딕"/>
                <a:ea typeface="맑은 고딕"/>
                <a:cs typeface="맑은 고딕"/>
              </a:rPr>
              <a:t>시스템 구조와 기술 구성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76852C-A9F6-4077-87ED-51E66233C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26273"/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0">
                <a:solidFill>
                  <a:srgbClr val="526273"/>
                </a:solidFill>
                <a:latin typeface="맑은 고딕"/>
                <a:ea typeface="맑은 고딕"/>
                <a:cs typeface="맑은 고딕"/>
              </a:rPr>
              <a:t>기능별 Controller/Service/DAO 구조와 공통 보안·연동 모듈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417269-9B46-46F5-9FE3-06CF4FEFF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D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362555-8F52-4E42-905D-EFE0E19AF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26273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526273"/>
                </a:solidFill>
                <a:latin typeface="맑은 고딕"/>
                <a:ea typeface="맑은 고딕"/>
                <a:cs typeface="맑은 고딕"/>
              </a:rPr>
              <a:t>NEXORA  ·  1조  ·  2026.10.07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FC9044-AE5C-488E-9472-1C21A7626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8652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E5AA8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1">
                <a:solidFill>
                  <a:srgbClr val="1E5AA8"/>
                </a:solidFill>
                <a:latin typeface="맑은 고딕"/>
                <a:ea typeface="맑은 고딕"/>
                <a:cs typeface="맑은 고딕"/>
              </a:rPr>
              <a:t>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2D75B1-4DDA-4148-84F4-E2B5BB76F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23812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2F6FB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B8E439-5351-4BF6-AF9E-6278BA8F2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E5AA8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1">
                <a:solidFill>
                  <a:srgbClr val="1E5AA8"/>
                </a:solidFill>
                <a:latin typeface="맑은 고딕"/>
                <a:ea typeface="맑은 고딕"/>
                <a:cs typeface="맑은 고딕"/>
              </a:rPr>
              <a:t>화면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D7899A-1640-4670-B9A2-A5636AB8C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9080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152A43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 b="0">
                <a:solidFill>
                  <a:srgbClr val="152A43"/>
                </a:solidFill>
                <a:latin typeface="맑은 고딕"/>
                <a:ea typeface="맑은 고딕"/>
                <a:cs typeface="맑은 고딕"/>
              </a:rPr>
              <a:t>JSP · JSTL</a:t>
            </a:r>
          </a:p>
          <a:p xmlns:a="http://schemas.openxmlformats.org/drawingml/2006/main">
            <a:pPr>
              <a:buNone/>
              <a:defRPr sz="1425" b="0">
                <a:solidFill>
                  <a:srgbClr val="152A43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 b="0">
                <a:solidFill>
                  <a:srgbClr val="152A43"/>
                </a:solidFill>
                <a:latin typeface="맑은 고딕"/>
                <a:ea typeface="맑은 고딕"/>
                <a:cs typeface="맑은 고딕"/>
              </a:rPr>
              <a:t>공통 CSS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37B091-AAF9-45B3-91CF-8CDC18D70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40030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966"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F2C94C"/>
                </a:solidFill>
                <a:latin typeface="맑은 고딕"/>
                <a:ea typeface="맑은 고딕"/>
                <a:cs typeface="맑은 고딕"/>
              </a:defRPr>
            </a:pPr>
            <a:r>
              <a:rPr sz="2100" b="1">
                <a:solidFill>
                  <a:srgbClr val="F2C94C"/>
                </a:solidFill>
                <a:latin typeface="맑은 고딕"/>
                <a:ea typeface="맑은 고딕"/>
                <a:cs typeface="맑은 고딕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D7A36B-FDC0-492E-B6F5-2FA9FFD23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047875"/>
            <a:ext cx="23812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2F6FB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69C014-F3E1-427D-AE6D-5BAEB367F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1907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E5AA8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1">
                <a:solidFill>
                  <a:srgbClr val="1E5AA8"/>
                </a:solidFill>
                <a:latin typeface="맑은 고딕"/>
                <a:ea typeface="맑은 고딕"/>
                <a:cs typeface="맑은 고딕"/>
              </a:rPr>
              <a:t>요청 처리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5343DC-344C-4B8B-B404-88125235D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59080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152A43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 b="0">
                <a:solidFill>
                  <a:srgbClr val="152A43"/>
                </a:solidFill>
                <a:latin typeface="맑은 고딕"/>
                <a:ea typeface="맑은 고딕"/>
                <a:cs typeface="맑은 고딕"/>
              </a:rPr>
              <a:t>Servlet / Filter</a:t>
            </a:r>
          </a:p>
          <a:p xmlns:a="http://schemas.openxmlformats.org/drawingml/2006/main">
            <a:pPr>
              <a:buNone/>
              <a:defRPr sz="1425" b="0">
                <a:solidFill>
                  <a:srgbClr val="152A43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 b="0">
                <a:solidFill>
                  <a:srgbClr val="152A43"/>
                </a:solidFill>
                <a:latin typeface="맑은 고딕"/>
                <a:ea typeface="맑은 고딕"/>
                <a:cs typeface="맑은 고딕"/>
              </a:rPr>
              <a:t>Fetch API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695F82-DCC7-4020-9D30-C8FEB66D6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240030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966"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F2C94C"/>
                </a:solidFill>
                <a:latin typeface="맑은 고딕"/>
                <a:ea typeface="맑은 고딕"/>
                <a:cs typeface="맑은 고딕"/>
              </a:defRPr>
            </a:pPr>
            <a:r>
              <a:rPr sz="2100" b="1">
                <a:solidFill>
                  <a:srgbClr val="F2C94C"/>
                </a:solidFill>
                <a:latin typeface="맑은 고딕"/>
                <a:ea typeface="맑은 고딕"/>
                <a:cs typeface="맑은 고딕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D3A847-84B9-4866-B823-6C108B81A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47875"/>
            <a:ext cx="23812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2F6F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7C9105-F38F-4D2A-BB5A-C6A947383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1907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E5AA8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1">
                <a:solidFill>
                  <a:srgbClr val="1E5AA8"/>
                </a:solidFill>
                <a:latin typeface="맑은 고딕"/>
                <a:ea typeface="맑은 고딕"/>
                <a:cs typeface="맑은 고딕"/>
              </a:rPr>
              <a:t>업무 로직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C4C07E-58EE-4F84-AFE6-B40088DCC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59080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152A43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 b="0">
                <a:solidFill>
                  <a:srgbClr val="152A43"/>
                </a:solidFill>
                <a:latin typeface="맑은 고딕"/>
                <a:ea typeface="맑은 고딕"/>
                <a:cs typeface="맑은 고딕"/>
              </a:rPr>
              <a:t>Service</a:t>
            </a:r>
          </a:p>
          <a:p xmlns:a="http://schemas.openxmlformats.org/drawingml/2006/main">
            <a:pPr>
              <a:buNone/>
              <a:defRPr sz="1425" b="0">
                <a:solidFill>
                  <a:srgbClr val="152A43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 b="0">
                <a:solidFill>
                  <a:srgbClr val="152A43"/>
                </a:solidFill>
                <a:latin typeface="맑은 고딕"/>
                <a:ea typeface="맑은 고딕"/>
                <a:cs typeface="맑은 고딕"/>
              </a:rPr>
              <a:t>규칙 기반 분류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B895AA-37B8-4BC2-A1CA-2A488BD8B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40030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966"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F2C94C"/>
                </a:solidFill>
                <a:latin typeface="맑은 고딕"/>
                <a:ea typeface="맑은 고딕"/>
                <a:cs typeface="맑은 고딕"/>
              </a:defRPr>
            </a:pPr>
            <a:r>
              <a:rPr sz="2100" b="1">
                <a:solidFill>
                  <a:srgbClr val="F2C94C"/>
                </a:solidFill>
                <a:latin typeface="맑은 고딕"/>
                <a:ea typeface="맑은 고딕"/>
                <a:cs typeface="맑은 고딕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DA5F0A-8E1A-4C53-8250-0FFEE2A83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047875"/>
            <a:ext cx="23812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2F6FB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A59408-CEF1-4EF2-80FB-B62FA96AB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1907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E5AA8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1">
                <a:solidFill>
                  <a:srgbClr val="1E5AA8"/>
                </a:solidFill>
                <a:latin typeface="맑은 고딕"/>
                <a:ea typeface="맑은 고딕"/>
                <a:cs typeface="맑은 고딕"/>
              </a:rPr>
              <a:t>데이터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B5C864-2F27-41E7-A00A-D20184C18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59080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152A43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 b="0">
                <a:solidFill>
                  <a:srgbClr val="152A43"/>
                </a:solidFill>
                <a:latin typeface="맑은 고딕"/>
                <a:ea typeface="맑은 고딕"/>
                <a:cs typeface="맑은 고딕"/>
              </a:rPr>
              <a:t>DAO / JDBC</a:t>
            </a:r>
          </a:p>
          <a:p xmlns:a="http://schemas.openxmlformats.org/drawingml/2006/main">
            <a:pPr>
              <a:buNone/>
              <a:defRPr sz="1425" b="0">
                <a:solidFill>
                  <a:srgbClr val="152A43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 b="0">
                <a:solidFill>
                  <a:srgbClr val="152A43"/>
                </a:solidFill>
                <a:latin typeface="맑은 고딕"/>
                <a:ea typeface="맑은 고딕"/>
                <a:cs typeface="맑은 고딕"/>
              </a:rPr>
              <a:t>MySQL 8.x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829C37-0882-4B96-B81D-997089AE0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C94C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EE8F4CA-152E-41D1-8A46-E41F81B64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10000"/>
            <a:ext cx="10210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152A43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0">
                <a:solidFill>
                  <a:srgbClr val="152A43"/>
                </a:solidFill>
                <a:latin typeface="맑은 고딕"/>
                <a:ea typeface="맑은 고딕"/>
                <a:cs typeface="맑은 고딕"/>
              </a:rPr>
              <a:t>Java 17 · Apache Tomcat 9 · Servlet/JSP MVC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16E13D3-1CB3-419C-9EDE-EA4DFE569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005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C94C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C0C1B7A-B9CA-44CC-AA92-A66D4A6E7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05300"/>
            <a:ext cx="10210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152A43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0">
                <a:solidFill>
                  <a:srgbClr val="152A43"/>
                </a:solidFill>
                <a:latin typeface="맑은 고딕"/>
                <a:ea typeface="맑은 고딕"/>
                <a:cs typeface="맑은 고딕"/>
              </a:rPr>
              <a:t>OpenRouter는 보조 분석에만 사용하고 탐지·심각도는 규칙으로 결정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80F8DA0-9FB6-4D5A-937C-C1DBFC550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958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C94C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C213E08-1AC0-4EF5-A01D-90231A74A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00600"/>
            <a:ext cx="10210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152A43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0">
                <a:solidFill>
                  <a:srgbClr val="152A43"/>
                </a:solidFill>
                <a:latin typeface="맑은 고딕"/>
                <a:ea typeface="맑은 고딕"/>
                <a:cs typeface="맑은 고딕"/>
              </a:rPr>
              <a:t>Slack Webhook으로 중요 이벤트 알림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57DBF35-B1C5-4EA4-85A5-91DCAACBB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911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C94C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BE188F1-C210-42B5-953C-93E423AF6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95900"/>
            <a:ext cx="10210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152A43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0">
                <a:solidFill>
                  <a:srgbClr val="152A43"/>
                </a:solidFill>
                <a:latin typeface="맑은 고딕"/>
                <a:ea typeface="맑은 고딕"/>
                <a:cs typeface="맑은 고딕"/>
              </a:rPr>
              <a:t>실제 DB/API/Webhook 비밀 설정은 소스 저장소에서 분리</a:t>
            </a:r>
          </a:p>
        </p:txBody>
      </p:sp>
    </p:spTree>
    <p:extLst>
      <p:ext uri="{BB962C8B-B14F-4D97-AF65-F5344CB8AC3E}">
        <p14:creationId xmlns:p14="http://schemas.microsoft.com/office/powerpoint/2010/main" val="187487836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3A1CC85-34DE-4699-9785-4A21E9A9B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AA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C17246-B13C-4865-B69D-B43E35386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94C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607B40-83B0-40A0-BA17-A72954382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E5AA8"/>
                </a:solidFill>
                <a:latin typeface="맑은 고딕"/>
                <a:ea typeface="맑은 고딕"/>
                <a:cs typeface="맑은 고딕"/>
              </a:defRPr>
            </a:pPr>
            <a:r>
              <a:rPr sz="1200" b="1">
                <a:solidFill>
                  <a:srgbClr val="1E5AA8"/>
                </a:solidFill>
                <a:latin typeface="맑은 고딕"/>
                <a:ea typeface="맑은 고딕"/>
                <a:cs typeface="맑은 고딕"/>
              </a:rPr>
              <a:t>NEXORA  /  PROJECT RESULT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C41095-1C5C-4BF0-A76F-94856C815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11144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52A43"/>
                </a:solidFill>
                <a:latin typeface="맑은 고딕"/>
                <a:ea typeface="맑은 고딕"/>
                <a:cs typeface="맑은 고딕"/>
              </a:defRPr>
            </a:pPr>
            <a:r>
              <a:rPr sz="2550" b="1">
                <a:solidFill>
                  <a:srgbClr val="152A43"/>
                </a:solidFill>
                <a:latin typeface="맑은 고딕"/>
                <a:ea typeface="맑은 고딕"/>
                <a:cs typeface="맑은 고딕"/>
              </a:rPr>
              <a:t>탐지부터 대응까지의 흐름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829A84-A388-4F1E-B73E-2DF28BF99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26273"/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0">
                <a:solidFill>
                  <a:srgbClr val="526273"/>
                </a:solidFill>
                <a:latin typeface="맑은 고딕"/>
                <a:ea typeface="맑은 고딕"/>
                <a:cs typeface="맑은 고딕"/>
              </a:rPr>
              <a:t>SentinelOps와 Security는 같은 운영 단계를 공유하고 입력 유형별 탐지기만 다르게 적용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FCBCFD-1AD6-4B94-82A8-26AACE2B3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D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465F08-8718-4760-8012-C3E5C41B6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26273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526273"/>
                </a:solidFill>
                <a:latin typeface="맑은 고딕"/>
                <a:ea typeface="맑은 고딕"/>
                <a:cs typeface="맑은 고딕"/>
              </a:rPr>
              <a:t>NEXORA  ·  1조  ·  2026.10.07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A2D5A5-47E1-4845-978B-33CBECAAC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8652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E5AA8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1">
                <a:solidFill>
                  <a:srgbClr val="1E5AA8"/>
                </a:solidFill>
                <a:latin typeface="맑은 고딕"/>
                <a:ea typeface="맑은 고딕"/>
                <a:cs typeface="맑은 고딕"/>
              </a:rPr>
              <a:t>06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0B0A25-B6A2-40D9-9707-1402C715A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09750"/>
            <a:ext cx="857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E5AA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E0DE7C-4811-4945-A28C-E086CE135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924050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87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2DC346-473A-41F6-8F84-A60E04BF2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8478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52A43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>
                <a:solidFill>
                  <a:srgbClr val="152A43"/>
                </a:solidFill>
                <a:latin typeface="맑은 고딕"/>
                <a:ea typeface="맑은 고딕"/>
                <a:cs typeface="맑은 고딕"/>
              </a:rPr>
              <a:t>수집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16A266-F6F7-4F61-A101-CFE27C20A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847850"/>
            <a:ext cx="7334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26273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0">
                <a:solidFill>
                  <a:srgbClr val="526273"/>
                </a:solidFill>
                <a:latin typeface="맑은 고딕"/>
                <a:ea typeface="맑은 고딕"/>
                <a:cs typeface="맑은 고딕"/>
              </a:rPr>
              <a:t>예외·5XX / 웹 요청·AI 프롬프트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F569C9-1E0B-4FBE-9C24-B4644760D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495550"/>
            <a:ext cx="285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7E7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F5283F-8739-48AB-9495-389E6AC2E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28925"/>
            <a:ext cx="857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E5AA8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5BABA4-163C-4F6E-AC32-767FC69AA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943225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87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7E8BA0-4EE9-45B9-B37B-9CE88454F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86702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52A43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>
                <a:solidFill>
                  <a:srgbClr val="152A43"/>
                </a:solidFill>
                <a:latin typeface="맑은 고딕"/>
                <a:ea typeface="맑은 고딕"/>
                <a:cs typeface="맑은 고딕"/>
              </a:rPr>
              <a:t>검사·분류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9EA266-5258-4612-880D-A0164353A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867025"/>
            <a:ext cx="7334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26273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0">
                <a:solidFill>
                  <a:srgbClr val="526273"/>
                </a:solidFill>
                <a:latin typeface="맑은 고딕"/>
                <a:ea typeface="맑은 고딕"/>
                <a:cs typeface="맑은 고딕"/>
              </a:rPr>
              <a:t>규칙 기반 위협 유형·심각도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1731EA-CCB1-43F1-9760-0D5055D39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514725"/>
            <a:ext cx="285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7E7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FE70C3-0EFB-4406-B1E0-2757EC550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857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E5AA8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78F2DA-CBD4-497C-BC9F-DA2DF919A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962400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87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0F5867-E3FD-4DD9-9535-821B76CC5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8862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52A43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>
                <a:solidFill>
                  <a:srgbClr val="152A43"/>
                </a:solidFill>
                <a:latin typeface="맑은 고딕"/>
                <a:ea typeface="맑은 고딕"/>
                <a:cs typeface="맑은 고딕"/>
              </a:rPr>
              <a:t>저장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EC3B9C-02B9-4E37-AB22-A0836D046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886200"/>
            <a:ext cx="7334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26273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0">
                <a:solidFill>
                  <a:srgbClr val="526273"/>
                </a:solidFill>
                <a:latin typeface="맑은 고딕"/>
                <a:ea typeface="맑은 고딕"/>
                <a:cs typeface="맑은 고딕"/>
              </a:rPr>
              <a:t>이벤트·fingerprint·상태 이력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043702-253B-428E-9C48-72135B2FF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533900"/>
            <a:ext cx="285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7E7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9552C6-4C9C-43D1-A0CE-413965441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67275"/>
            <a:ext cx="857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2C94C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4A82076-395A-4177-BEFB-1A363FC7B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981575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87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E6D4E10-158B-43B8-8BEA-D483E7B6B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90537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52A43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>
                <a:solidFill>
                  <a:srgbClr val="152A43"/>
                </a:solidFill>
                <a:latin typeface="맑은 고딕"/>
                <a:ea typeface="맑은 고딕"/>
                <a:cs typeface="맑은 고딕"/>
              </a:rPr>
              <a:t>관제·대응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A81468C-2A0E-4CD8-8F8F-C5BEECA59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905375"/>
            <a:ext cx="7334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26273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0">
                <a:solidFill>
                  <a:srgbClr val="526273"/>
                </a:solidFill>
                <a:latin typeface="맑은 고딕"/>
                <a:ea typeface="맑은 고딕"/>
                <a:cs typeface="맑은 고딕"/>
              </a:rPr>
              <a:t>상세·AI 요약·Slack·상태 변경</a:t>
            </a:r>
          </a:p>
        </p:txBody>
      </p:sp>
    </p:spTree>
    <p:extLst>
      <p:ext uri="{BB962C8B-B14F-4D97-AF65-F5344CB8AC3E}">
        <p14:creationId xmlns:p14="http://schemas.microsoft.com/office/powerpoint/2010/main" val="87490249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7A9B4E4-B7E5-4C3E-A271-ECDFF89F4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AA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B4B358-0D91-4333-8702-B276E3A1A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94C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9224C8-4AE3-479F-927E-A8DDBFA4D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E5AA8"/>
                </a:solidFill>
                <a:latin typeface="맑은 고딕"/>
                <a:ea typeface="맑은 고딕"/>
                <a:cs typeface="맑은 고딕"/>
              </a:defRPr>
            </a:pPr>
            <a:r>
              <a:rPr sz="1200" b="1">
                <a:solidFill>
                  <a:srgbClr val="1E5AA8"/>
                </a:solidFill>
                <a:latin typeface="맑은 고딕"/>
                <a:ea typeface="맑은 고딕"/>
                <a:cs typeface="맑은 고딕"/>
              </a:rPr>
              <a:t>NEXORA  /  PROJECT RESULT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679BAE-8160-4548-9995-5D5F3EAEA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11144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52A43"/>
                </a:solidFill>
                <a:latin typeface="맑은 고딕"/>
                <a:ea typeface="맑은 고딕"/>
                <a:cs typeface="맑은 고딕"/>
              </a:defRPr>
            </a:pPr>
            <a:r>
              <a:rPr sz="2550" b="1">
                <a:solidFill>
                  <a:srgbClr val="152A43"/>
                </a:solidFill>
                <a:latin typeface="맑은 고딕"/>
                <a:ea typeface="맑은 고딕"/>
                <a:cs typeface="맑은 고딕"/>
              </a:rPr>
              <a:t>데이터 설계와 보호 기준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DC842B-85B3-4B8A-A8BB-173872038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26273"/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0">
                <a:solidFill>
                  <a:srgbClr val="526273"/>
                </a:solidFill>
                <a:latin typeface="맑은 고딕"/>
                <a:ea typeface="맑은 고딕"/>
                <a:cs typeface="맑은 고딕"/>
              </a:rPr>
              <a:t>현재 단일 schema에는 서비스 기능별 15개 테이블이 포함됨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04E987-3162-49E8-9A15-691C0144D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D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562E43-A036-46CE-A2C0-AD01AA034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26273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526273"/>
                </a:solidFill>
                <a:latin typeface="맑은 고딕"/>
                <a:ea typeface="맑은 고딕"/>
                <a:cs typeface="맑은 고딕"/>
              </a:rPr>
              <a:t>NEXORA  ·  1조  ·  2026.10.07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B84413-4CC9-421E-9059-CD1DB7263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8652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E5AA8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1">
                <a:solidFill>
                  <a:srgbClr val="1E5AA8"/>
                </a:solidFill>
                <a:latin typeface="맑은 고딕"/>
                <a:ea typeface="맑은 고딕"/>
                <a:cs typeface="맑은 고딕"/>
              </a:rPr>
              <a:t>07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B8437A-826F-4C2F-84E5-CE5E7F4E8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685800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8FAFD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EAD34A-7E87-4629-BAD5-70E36155B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876425"/>
            <a:ext cx="638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152A43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 b="1">
                <a:solidFill>
                  <a:srgbClr val="152A43"/>
                </a:solidFill>
                <a:latin typeface="맑은 고딕"/>
                <a:ea typeface="맑은 고딕"/>
                <a:cs typeface="맑은 고딕"/>
              </a:rPr>
              <a:t>Member · member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B27A2D-6ED6-4D35-ADED-36703CC75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33650"/>
            <a:ext cx="685800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2F6FB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F68F32-D19F-44C4-A1AA-8B2E000E4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00325"/>
            <a:ext cx="638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152A43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 b="0">
                <a:solidFill>
                  <a:srgbClr val="152A43"/>
                </a:solidFill>
                <a:latin typeface="맑은 고딕"/>
                <a:ea typeface="맑은 고딕"/>
                <a:cs typeface="맑은 고딕"/>
              </a:rPr>
              <a:t>Community · board / board_comment / board_file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72639D-5251-4FB5-B449-6DAB2D587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685800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8FAFD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1A623B-33F7-4CDB-ADC1-64E7BD0DE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24225"/>
            <a:ext cx="638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152A43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 b="0">
                <a:solidFill>
                  <a:srgbClr val="152A43"/>
                </a:solidFill>
                <a:latin typeface="맑은 고딕"/>
                <a:ea typeface="맑은 고딕"/>
                <a:cs typeface="맑은 고딕"/>
              </a:rPr>
              <a:t>Inquiry · inquiry / inquiry_file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DD7CAB-21FD-4666-BA23-F594740DF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81450"/>
            <a:ext cx="685800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2F6FB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2E05A3-17EF-406C-BBB9-546F932F4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48125"/>
            <a:ext cx="638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152A43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 b="0">
                <a:solidFill>
                  <a:srgbClr val="152A43"/>
                </a:solidFill>
                <a:latin typeface="맑은 고딕"/>
                <a:ea typeface="맑은 고딕"/>
                <a:cs typeface="맑은 고딕"/>
              </a:rPr>
              <a:t>SentinelOps · incident / analysis / alert / history / inquiry link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32EF68-7399-4D47-9C8A-083D7A906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05350"/>
            <a:ext cx="685800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8FAFD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1B351D-F3C1-4E0A-9A0F-4247E4767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772025"/>
            <a:ext cx="638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152A43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 b="0">
                <a:solidFill>
                  <a:srgbClr val="152A43"/>
                </a:solidFill>
                <a:latin typeface="맑은 고딕"/>
                <a:ea typeface="맑은 고딕"/>
                <a:cs typeface="맑은 고딕"/>
              </a:rPr>
              <a:t>Security · security_event / analysis / alert / history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C0CE31-01FB-4F06-8265-C97136368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809750"/>
            <a:ext cx="3286125" cy="3419475"/>
          </a:xfrm>
          <a:prstGeom xmlns:a="http://schemas.openxmlformats.org/drawingml/2006/main" prst="roundRect">
            <a:avLst>
              <a:gd name="adj" fmla="val 2319"/>
            </a:avLst>
          </a:prstGeom>
          <a:solidFill xmlns:a="http://schemas.openxmlformats.org/drawingml/2006/main">
            <a:srgbClr val="F2F6FB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02030B-E483-4B02-96A4-0678E0927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76450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029"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1E5AA8"/>
                </a:solidFill>
                <a:latin typeface="맑은 고딕"/>
                <a:ea typeface="맑은 고딕"/>
                <a:cs typeface="맑은 고딕"/>
              </a:defRPr>
            </a:pPr>
            <a:r>
              <a:rPr sz="1725" b="1">
                <a:solidFill>
                  <a:srgbClr val="1E5AA8"/>
                </a:solidFill>
                <a:latin typeface="맑은 고딕"/>
                <a:ea typeface="맑은 고딕"/>
                <a:cs typeface="맑은 고딕"/>
              </a:rPr>
              <a:t>보호 원칙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C51BA2-2C07-4A31-98FB-46259A972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051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C94C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97849D-74FB-45B8-B1D9-A1AB90C84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609850"/>
            <a:ext cx="24955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152A43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0">
                <a:solidFill>
                  <a:srgbClr val="152A43"/>
                </a:solidFill>
                <a:latin typeface="맑은 고딕"/>
                <a:ea typeface="맑은 고딕"/>
                <a:cs typeface="맑은 고딕"/>
              </a:rPr>
              <a:t>비밀번호 단방향 해시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A8BBCD-BF2B-49AB-BDBB-2FE9EE30E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1718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C94C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1397DF-E1FD-423B-82D5-6E721463A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076575"/>
            <a:ext cx="24955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152A43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0">
                <a:solidFill>
                  <a:srgbClr val="152A43"/>
                </a:solidFill>
                <a:latin typeface="맑은 고딕"/>
                <a:ea typeface="맑은 고딕"/>
                <a:cs typeface="맑은 고딕"/>
              </a:rPr>
              <a:t>민감 프롬프트 마스킹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07B2D7B-1ACB-46AC-A2A2-00AA20347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385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C94C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DE982FC-A335-4850-921E-D1A7B2373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543300"/>
            <a:ext cx="24955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152A43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0">
                <a:solidFill>
                  <a:srgbClr val="152A43"/>
                </a:solidFill>
                <a:latin typeface="맑은 고딕"/>
                <a:ea typeface="맑은 고딕"/>
                <a:cs typeface="맑은 고딕"/>
              </a:rPr>
              <a:t>출처 IP 해시 보관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173FFE1-4D72-4700-995C-CBF19F305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1052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C94C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372F899-5D43-44A0-9ECF-C2A7A4BE7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010025"/>
            <a:ext cx="24955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152A43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0">
                <a:solidFill>
                  <a:srgbClr val="152A43"/>
                </a:solidFill>
                <a:latin typeface="맑은 고딕"/>
                <a:ea typeface="맑은 고딕"/>
                <a:cs typeface="맑은 고딕"/>
              </a:rPr>
              <a:t>첨부파일 경로 비공개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2916E22-19F5-42A2-9201-799A4C194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5720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C94C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F84BDF2-60B9-4FE6-8FBD-F81A99381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476750"/>
            <a:ext cx="24955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152A43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0">
                <a:solidFill>
                  <a:srgbClr val="152A43"/>
                </a:solidFill>
                <a:latin typeface="맑은 고딕"/>
                <a:ea typeface="맑은 고딕"/>
                <a:cs typeface="맑은 고딕"/>
              </a:rPr>
              <a:t>탈퇴 보유기간 정책</a:t>
            </a:r>
          </a:p>
        </p:txBody>
      </p:sp>
    </p:spTree>
    <p:extLst>
      <p:ext uri="{BB962C8B-B14F-4D97-AF65-F5344CB8AC3E}">
        <p14:creationId xmlns:p14="http://schemas.microsoft.com/office/powerpoint/2010/main" val="79651863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921AB5A-F38E-4D5A-BC7C-A9EC2AC2B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AA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3EE984-60F9-42EF-B9DC-933985DEC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94C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B1E09F-AEE7-4BB7-9A3F-A649CF275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E5AA8"/>
                </a:solidFill>
                <a:latin typeface="맑은 고딕"/>
                <a:ea typeface="맑은 고딕"/>
                <a:cs typeface="맑은 고딕"/>
              </a:defRPr>
            </a:pPr>
            <a:r>
              <a:rPr sz="1200" b="1">
                <a:solidFill>
                  <a:srgbClr val="1E5AA8"/>
                </a:solidFill>
                <a:latin typeface="맑은 고딕"/>
                <a:ea typeface="맑은 고딕"/>
                <a:cs typeface="맑은 고딕"/>
              </a:rPr>
              <a:t>NEXORA  /  PROJECT RESULT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8C7956-05CE-49D2-BDF4-6D4F522C1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11144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52A43"/>
                </a:solidFill>
                <a:latin typeface="맑은 고딕"/>
                <a:ea typeface="맑은 고딕"/>
                <a:cs typeface="맑은 고딕"/>
              </a:defRPr>
            </a:pPr>
            <a:r>
              <a:rPr sz="2550" b="1">
                <a:solidFill>
                  <a:srgbClr val="152A43"/>
                </a:solidFill>
                <a:latin typeface="맑은 고딕"/>
                <a:ea typeface="맑은 고딕"/>
                <a:cs typeface="맑은 고딕"/>
              </a:rPr>
              <a:t>5개 기능 담당과 통합 경계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03C57C-C0DD-409F-815D-CBADADF74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26273"/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0">
                <a:solidFill>
                  <a:srgbClr val="526273"/>
                </a:solidFill>
                <a:latin typeface="맑은 고딕"/>
                <a:ea typeface="맑은 고딕"/>
                <a:cs typeface="맑은 고딕"/>
              </a:rPr>
              <a:t>두 명의 핵심 참여자는 제품명이 아니라 공통 이벤트 처리 단계로 역할 분리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CAA50B-041A-41B2-B610-70116A683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D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3A2410-0738-4E46-AB33-455FADBBC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26273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526273"/>
                </a:solidFill>
                <a:latin typeface="맑은 고딕"/>
                <a:ea typeface="맑은 고딕"/>
                <a:cs typeface="맑은 고딕"/>
              </a:rPr>
              <a:t>NEXORA  ·  1조  ·  2026.10.07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0A693F-1FC5-474E-A5C3-7130411CF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8652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E5AA8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1">
                <a:solidFill>
                  <a:srgbClr val="1E5AA8"/>
                </a:solidFill>
                <a:latin typeface="맑은 고딕"/>
                <a:ea typeface="맑은 고딕"/>
                <a:cs typeface="맑은 고딕"/>
              </a:rPr>
              <a:t>08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870ADF-67A9-4D6E-8188-C0BDF2311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752600"/>
            <a:ext cx="106680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2F6FB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E9A65E-CDFD-4C9C-870B-5C81BCA16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76425"/>
            <a:ext cx="1381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E5AA8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1">
                <a:solidFill>
                  <a:srgbClr val="1E5AA8"/>
                </a:solidFill>
                <a:latin typeface="맑은 고딕"/>
                <a:ea typeface="맑은 고딕"/>
                <a:cs typeface="맑은 고딕"/>
              </a:rPr>
              <a:t>김순민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F71AEC-3429-467E-B9EC-805699E38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876425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152A43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 b="1">
                <a:solidFill>
                  <a:srgbClr val="152A43"/>
                </a:solidFill>
                <a:latin typeface="맑은 고딕"/>
                <a:ea typeface="맑은 고딕"/>
                <a:cs typeface="맑은 고딕"/>
              </a:rPr>
              <a:t>SentinelOps + Security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9CD198-6DEA-4D02-8670-6FB9E8A0D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876425"/>
            <a:ext cx="561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26273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0">
                <a:solidFill>
                  <a:srgbClr val="526273"/>
                </a:solidFill>
                <a:latin typeface="맑은 고딕"/>
                <a:ea typeface="맑은 고딕"/>
                <a:cs typeface="맑은 고딕"/>
              </a:rPr>
              <a:t>탐지·분류·마스킹·DB 저장·공통 계약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CE48C6-9C1E-41D7-BDE0-94D7DB5A1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562225"/>
            <a:ext cx="106680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2F6FB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6E916C-A97C-4254-ACB7-355FD5061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86050"/>
            <a:ext cx="1381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E5AA8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1">
                <a:solidFill>
                  <a:srgbClr val="1E5AA8"/>
                </a:solidFill>
                <a:latin typeface="맑은 고딕"/>
                <a:ea typeface="맑은 고딕"/>
                <a:cs typeface="맑은 고딕"/>
              </a:rPr>
              <a:t>유승민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669603-85C6-4237-A97E-06EEC9C19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686050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152A43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 b="1">
                <a:solidFill>
                  <a:srgbClr val="152A43"/>
                </a:solidFill>
                <a:latin typeface="맑은 고딕"/>
                <a:ea typeface="맑은 고딕"/>
                <a:cs typeface="맑은 고딕"/>
              </a:rPr>
              <a:t>SentinelOps + Security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2CC890-806E-4601-A9FF-34E36274F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86050"/>
            <a:ext cx="561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26273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0">
                <a:solidFill>
                  <a:srgbClr val="526273"/>
                </a:solidFill>
                <a:latin typeface="맑은 고딕"/>
                <a:ea typeface="맑은 고딕"/>
                <a:cs typeface="맑은 고딕"/>
              </a:rPr>
              <a:t>관제 화면·AI 분석·Slack·상태 대응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AB63FC-E1D0-43B5-B5BA-F2CEBEC55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371850"/>
            <a:ext cx="106680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8FAFD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41B442-E1AC-4891-9BC1-8A84D9772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95675"/>
            <a:ext cx="1381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E5AA8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1">
                <a:solidFill>
                  <a:srgbClr val="1E5AA8"/>
                </a:solidFill>
                <a:latin typeface="맑은 고딕"/>
                <a:ea typeface="맑은 고딕"/>
                <a:cs typeface="맑은 고딕"/>
              </a:rPr>
              <a:t>강인선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70D093-D39D-4241-A7C9-400566527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495675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152A43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 b="1">
                <a:solidFill>
                  <a:srgbClr val="152A43"/>
                </a:solidFill>
                <a:latin typeface="맑은 고딕"/>
                <a:ea typeface="맑은 고딕"/>
                <a:cs typeface="맑은 고딕"/>
              </a:rPr>
              <a:t>Member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E9E025-AC91-4B0C-B674-424C709A2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495675"/>
            <a:ext cx="561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26273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0">
                <a:solidFill>
                  <a:srgbClr val="526273"/>
                </a:solidFill>
                <a:latin typeface="맑은 고딕"/>
                <a:ea typeface="맑은 고딕"/>
                <a:cs typeface="맑은 고딕"/>
              </a:rPr>
              <a:t>가입·세션·내 정보·회원 관리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961536-A9C1-48B1-A9B2-B1C548F7D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181475"/>
            <a:ext cx="106680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8FAFD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EB5FDA-F5FB-4A9B-ACDD-670F5292D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05300"/>
            <a:ext cx="1381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E5AA8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1">
                <a:solidFill>
                  <a:srgbClr val="1E5AA8"/>
                </a:solidFill>
                <a:latin typeface="맑은 고딕"/>
                <a:ea typeface="맑은 고딕"/>
                <a:cs typeface="맑은 고딕"/>
              </a:rPr>
              <a:t>이현우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A220CC-42B9-4C69-B065-E27701599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305300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152A43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 b="1">
                <a:solidFill>
                  <a:srgbClr val="152A43"/>
                </a:solidFill>
                <a:latin typeface="맑은 고딕"/>
                <a:ea typeface="맑은 고딕"/>
                <a:cs typeface="맑은 고딕"/>
              </a:rPr>
              <a:t>Community Board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D399B1-8F2D-4511-98BD-A09599B7D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305300"/>
            <a:ext cx="561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26273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0">
                <a:solidFill>
                  <a:srgbClr val="526273"/>
                </a:solidFill>
                <a:latin typeface="맑은 고딕"/>
                <a:ea typeface="맑은 고딕"/>
                <a:cs typeface="맑은 고딕"/>
              </a:rPr>
              <a:t>게시글·댓글·첨부·관리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AD44DA-2E33-4EB3-B21E-7A4B202D5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991100"/>
            <a:ext cx="106680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8FAFD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83D0B32-F811-4379-B99C-6DB6F2FE3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14925"/>
            <a:ext cx="1381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E5AA8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1">
                <a:solidFill>
                  <a:srgbClr val="1E5AA8"/>
                </a:solidFill>
                <a:latin typeface="맑은 고딕"/>
                <a:ea typeface="맑은 고딕"/>
                <a:cs typeface="맑은 고딕"/>
              </a:rPr>
              <a:t>박서현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789C288-C306-403C-AD60-9CCC7959A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114925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152A43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 b="1">
                <a:solidFill>
                  <a:srgbClr val="152A43"/>
                </a:solidFill>
                <a:latin typeface="맑은 고딕"/>
                <a:ea typeface="맑은 고딕"/>
                <a:cs typeface="맑은 고딕"/>
              </a:rPr>
              <a:t>Inquiry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4BC2CD0-CE8D-4FE3-91D1-AB2E2A3D8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114925"/>
            <a:ext cx="561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26273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0">
                <a:solidFill>
                  <a:srgbClr val="526273"/>
                </a:solidFill>
                <a:latin typeface="맑은 고딕"/>
                <a:ea typeface="맑은 고딕"/>
                <a:cs typeface="맑은 고딕"/>
              </a:rPr>
              <a:t>문의·첨부·관리자 답변</a:t>
            </a:r>
          </a:p>
        </p:txBody>
      </p:sp>
    </p:spTree>
    <p:extLst>
      <p:ext uri="{BB962C8B-B14F-4D97-AF65-F5344CB8AC3E}">
        <p14:creationId xmlns:p14="http://schemas.microsoft.com/office/powerpoint/2010/main" val="61677708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F9C456-28FB-461E-A1B1-DB604CDD5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AA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96EA28-F5B3-4880-9668-D415FE927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94C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749D9F-D976-4FCC-956B-EBC8C0FC0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E5AA8"/>
                </a:solidFill>
                <a:latin typeface="맑은 고딕"/>
                <a:ea typeface="맑은 고딕"/>
                <a:cs typeface="맑은 고딕"/>
              </a:defRPr>
            </a:pPr>
            <a:r>
              <a:rPr sz="1200" b="1">
                <a:solidFill>
                  <a:srgbClr val="1E5AA8"/>
                </a:solidFill>
                <a:latin typeface="맑은 고딕"/>
                <a:ea typeface="맑은 고딕"/>
                <a:cs typeface="맑은 고딕"/>
              </a:rPr>
              <a:t>NEXORA  /  PROJECT RESULT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8B4AAC-2EFF-48D2-A8B5-69808DFF7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11144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52A43"/>
                </a:solidFill>
                <a:latin typeface="맑은 고딕"/>
                <a:ea typeface="맑은 고딕"/>
                <a:cs typeface="맑은 고딕"/>
              </a:defRPr>
            </a:pPr>
            <a:r>
              <a:rPr sz="2550" b="1">
                <a:solidFill>
                  <a:srgbClr val="152A43"/>
                </a:solidFill>
                <a:latin typeface="맑은 고딕"/>
                <a:ea typeface="맑은 고딕"/>
                <a:cs typeface="맑은 고딕"/>
              </a:rPr>
              <a:t>구현 결과와 검증 상태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AF4388-3AF1-4628-AAA2-15287D316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26273"/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0">
                <a:solidFill>
                  <a:srgbClr val="526273"/>
                </a:solidFill>
                <a:latin typeface="맑은 고딕"/>
                <a:ea typeface="맑은 고딕"/>
                <a:cs typeface="맑은 고딕"/>
              </a:rPr>
              <a:t>2026년 10월 7일 현재 문서·소스 기록 기준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AE24CD-F9DC-4344-BA44-9EFB26F41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D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3EA3C2-457F-45EF-A822-AFC201432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26273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526273"/>
                </a:solidFill>
                <a:latin typeface="맑은 고딕"/>
                <a:ea typeface="맑은 고딕"/>
                <a:cs typeface="맑은 고딕"/>
              </a:rPr>
              <a:t>NEXORA  ·  1조  ·  2026.10.07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7328C0-43DA-4AD3-B79C-A8F393F66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8652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E5AA8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1">
                <a:solidFill>
                  <a:srgbClr val="1E5AA8"/>
                </a:solidFill>
                <a:latin typeface="맑은 고딕"/>
                <a:ea typeface="맑은 고딕"/>
                <a:cs typeface="맑은 고딕"/>
              </a:rPr>
              <a:t>09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C3CAEF-F5D9-428D-B6E8-F84A80BC0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050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C94C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813799-7362-4421-B98C-9035E1FFD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809750"/>
            <a:ext cx="10306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152A43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0">
                <a:solidFill>
                  <a:srgbClr val="152A43"/>
                </a:solidFill>
                <a:latin typeface="맑은 고딕"/>
                <a:ea typeface="맑은 고딕"/>
                <a:cs typeface="맑은 고딕"/>
              </a:rPr>
              <a:t>Member, Community, Inquiry, Admin의 기본 업무 화면과 권한 흐름 구현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92E395-0A81-4B57-9D56-AFFB52DC7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717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C94C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7A40EF-76C1-4DE1-BA6E-5444F2108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76500"/>
            <a:ext cx="10306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152A43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0">
                <a:solidFill>
                  <a:srgbClr val="152A43"/>
                </a:solidFill>
                <a:latin typeface="맑은 고딕"/>
                <a:ea typeface="맑은 고딕"/>
                <a:cs typeface="맑은 고딕"/>
              </a:rPr>
              <a:t>SentinelOps: HTTP 5XX 기록, 등급 분류, 상태 이력, AI 분석·Slack 연동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B1CAD1-FCFE-462F-A574-3D928EACD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385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C94C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A2CD77-759D-443A-A560-45F7CF53B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43250"/>
            <a:ext cx="10306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152A43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0">
                <a:solidFill>
                  <a:srgbClr val="152A43"/>
                </a:solidFill>
                <a:latin typeface="맑은 고딕"/>
                <a:ea typeface="맑은 고딕"/>
                <a:cs typeface="맑은 고딕"/>
              </a:rPr>
              <a:t>Security: 웹·AI 입력 규칙 검사, 이벤트 기록·집계, 상세 관제·알림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108843-5F0E-4B59-AD2C-36D113A9C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C94C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78D72B-EBBF-4918-8360-F41ECFCB4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10000"/>
            <a:ext cx="10306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152A43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0">
                <a:solidFill>
                  <a:srgbClr val="152A43"/>
                </a:solidFill>
                <a:latin typeface="맑은 고딕"/>
                <a:ea typeface="맑은 고딕"/>
                <a:cs typeface="맑은 고딕"/>
              </a:rPr>
              <a:t>기본 컴파일 및 규칙·상태·응답 파싱 테스트 기록 확인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6918A4-9B4E-4A1A-9F4C-3707C2A4E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720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C94C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7C9FFC-414C-4787-94D3-C7A431A56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76750"/>
            <a:ext cx="10306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152A43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0">
                <a:solidFill>
                  <a:srgbClr val="152A43"/>
                </a:solidFill>
                <a:latin typeface="맑은 고딕"/>
                <a:ea typeface="맑은 고딕"/>
                <a:cs typeface="맑은 고딕"/>
              </a:rPr>
              <a:t>발표 전 새 DB 재현, 권한 회귀, 외부 API 실패·오탐 경계는 재검증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37A359-B20F-4CD8-ACB1-F569EAF34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91150"/>
            <a:ext cx="10572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9E8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79E6E5-7D31-48B6-ABB6-5742D82A7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57825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80620C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1">
                <a:solidFill>
                  <a:srgbClr val="80620C"/>
                </a:solidFill>
                <a:latin typeface="맑은 고딕"/>
                <a:ea typeface="맑은 고딕"/>
                <a:cs typeface="맑은 고딕"/>
              </a:rPr>
              <a:t>남은 확인을 “완료”로 과장하지 않고 통합 검증 항목으로 분리했습니다.</a:t>
            </a:r>
          </a:p>
        </p:txBody>
      </p:sp>
    </p:spTree>
    <p:extLst>
      <p:ext uri="{BB962C8B-B14F-4D97-AF65-F5344CB8AC3E}">
        <p14:creationId xmlns:p14="http://schemas.microsoft.com/office/powerpoint/2010/main" val="194410366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04A0F9-101C-45BB-8ECA-AE5B96225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AA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9AC86F-34F8-48A3-AA61-960F92F87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94C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4B23B8-D3E5-4352-AC6A-7B9C26782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E5AA8"/>
                </a:solidFill>
                <a:latin typeface="맑은 고딕"/>
                <a:ea typeface="맑은 고딕"/>
                <a:cs typeface="맑은 고딕"/>
              </a:defRPr>
            </a:pPr>
            <a:r>
              <a:rPr sz="1200" b="1">
                <a:solidFill>
                  <a:srgbClr val="1E5AA8"/>
                </a:solidFill>
                <a:latin typeface="맑은 고딕"/>
                <a:ea typeface="맑은 고딕"/>
                <a:cs typeface="맑은 고딕"/>
              </a:rPr>
              <a:t>NEXORA  /  PROJECT RESULT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2E6318-F550-4BB4-B686-2C836B24A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11144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52A43"/>
                </a:solidFill>
                <a:latin typeface="맑은 고딕"/>
                <a:ea typeface="맑은 고딕"/>
                <a:cs typeface="맑은 고딕"/>
              </a:defRPr>
            </a:pPr>
            <a:r>
              <a:rPr sz="2550" b="1">
                <a:solidFill>
                  <a:srgbClr val="152A43"/>
                </a:solidFill>
                <a:latin typeface="맑은 고딕"/>
                <a:ea typeface="맑은 고딕"/>
                <a:cs typeface="맑은 고딕"/>
              </a:rPr>
              <a:t>남은 일정과 마무리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D5E07C-2D27-4D2B-B3CB-F9CE4CA78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26273"/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0">
                <a:solidFill>
                  <a:srgbClr val="526273"/>
                </a:solidFill>
                <a:latin typeface="맑은 고딕"/>
                <a:ea typeface="맑은 고딕"/>
                <a:cs typeface="맑은 고딕"/>
              </a:rPr>
              <a:t>프로젝트 기간 2026.09.22–10.25 · 발표 10.26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662DD3-BCE4-422B-B419-90BCE6C87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D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470DE0-A49D-4A2E-97BA-88D451316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26273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526273"/>
                </a:solidFill>
                <a:latin typeface="맑은 고딕"/>
                <a:ea typeface="맑은 고딕"/>
                <a:cs typeface="맑은 고딕"/>
              </a:rPr>
              <a:t>NEXORA  ·  1조  ·  2026.10.07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4011D5-AD10-4283-8B60-67E3D6E7B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8652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E5AA8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1">
                <a:solidFill>
                  <a:srgbClr val="1E5AA8"/>
                </a:solidFill>
                <a:latin typeface="맑은 고딕"/>
                <a:ea typeface="맑은 고딕"/>
                <a:cs typeface="맑은 고딕"/>
              </a:rPr>
              <a:t>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50E0B7-E6EF-4889-8530-D6B571EBA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66900"/>
            <a:ext cx="10572750" cy="695325"/>
          </a:xfrm>
          <a:prstGeom xmlns:a="http://schemas.openxmlformats.org/drawingml/2006/main" prst="roundRect">
            <a:avLst>
              <a:gd name="adj" fmla="val 10959"/>
            </a:avLst>
          </a:prstGeom>
          <a:solidFill xmlns:a="http://schemas.openxmlformats.org/drawingml/2006/main">
            <a:srgbClr val="F8FAFD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F3F3FA-5282-44B8-98EB-94D126981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09775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E5AA8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1">
                <a:solidFill>
                  <a:srgbClr val="1E5AA8"/>
                </a:solidFill>
                <a:latin typeface="맑은 고딕"/>
                <a:ea typeface="맑은 고딕"/>
                <a:cs typeface="맑은 고딕"/>
              </a:rPr>
              <a:t>10/08–10/18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C0D5C2-B23D-40E0-A34A-916C7E9D0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09775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52A43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1">
                <a:solidFill>
                  <a:srgbClr val="152A43"/>
                </a:solidFill>
                <a:latin typeface="맑은 고딕"/>
                <a:ea typeface="맑은 고딕"/>
                <a:cs typeface="맑은 고딕"/>
              </a:rPr>
              <a:t>통합 검증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D9E547-F9A0-435B-958E-F7F486428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009775"/>
            <a:ext cx="571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26273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0">
                <a:solidFill>
                  <a:srgbClr val="526273"/>
                </a:solidFill>
                <a:latin typeface="맑은 고딕"/>
                <a:ea typeface="맑은 고딕"/>
                <a:cs typeface="맑은 고딕"/>
              </a:rPr>
              <a:t>권한·세션·CSRF·DB·AI/Slack 실패·오탐 확인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0F74B2-F341-49A4-B53C-A96DB6A1B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81300"/>
            <a:ext cx="10572750" cy="695325"/>
          </a:xfrm>
          <a:prstGeom xmlns:a="http://schemas.openxmlformats.org/drawingml/2006/main" prst="roundRect">
            <a:avLst>
              <a:gd name="adj" fmla="val 10959"/>
            </a:avLst>
          </a:prstGeom>
          <a:solidFill xmlns:a="http://schemas.openxmlformats.org/drawingml/2006/main">
            <a:srgbClr val="F2F6FB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BA4C65-DFB2-43C3-9942-347AAF1B2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24175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E5AA8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1">
                <a:solidFill>
                  <a:srgbClr val="1E5AA8"/>
                </a:solidFill>
                <a:latin typeface="맑은 고딕"/>
                <a:ea typeface="맑은 고딕"/>
                <a:cs typeface="맑은 고딕"/>
              </a:rPr>
              <a:t>10/19–10/25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D933E9-E7FF-4D28-92CE-7940F1446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924175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52A43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1">
                <a:solidFill>
                  <a:srgbClr val="152A43"/>
                </a:solidFill>
                <a:latin typeface="맑은 고딕"/>
                <a:ea typeface="맑은 고딕"/>
                <a:cs typeface="맑은 고딕"/>
              </a:rPr>
              <a:t>마무리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A6A996-A087-4B1E-B251-D803E6D2A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924175"/>
            <a:ext cx="571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26273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0">
                <a:solidFill>
                  <a:srgbClr val="526273"/>
                </a:solidFill>
                <a:latin typeface="맑은 고딕"/>
                <a:ea typeface="맑은 고딕"/>
                <a:cs typeface="맑은 고딕"/>
              </a:rPr>
              <a:t>결함 수정, 새 PC 재현, 결과자료·시연 리허설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2CF42B-BB22-4B61-BA2F-BB9475178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95700"/>
            <a:ext cx="10572750" cy="695325"/>
          </a:xfrm>
          <a:prstGeom xmlns:a="http://schemas.openxmlformats.org/drawingml/2006/main" prst="roundRect">
            <a:avLst>
              <a:gd name="adj" fmla="val 10959"/>
            </a:avLst>
          </a:prstGeom>
          <a:solidFill xmlns:a="http://schemas.openxmlformats.org/drawingml/2006/main">
            <a:srgbClr val="F8FAFD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E45026-E2A6-4F1A-9428-212373A68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38575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E5AA8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1">
                <a:solidFill>
                  <a:srgbClr val="1E5AA8"/>
                </a:solidFill>
                <a:latin typeface="맑은 고딕"/>
                <a:ea typeface="맑은 고딕"/>
                <a:cs typeface="맑은 고딕"/>
              </a:rPr>
              <a:t>10/26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639141-14DF-46F5-8966-2DB42AEC8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838575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52A43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1">
                <a:solidFill>
                  <a:srgbClr val="152A43"/>
                </a:solidFill>
                <a:latin typeface="맑은 고딕"/>
                <a:ea typeface="맑은 고딕"/>
                <a:cs typeface="맑은 고딕"/>
              </a:rPr>
              <a:t>발표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65F53A-82BA-457D-8209-15A4FBB73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838575"/>
            <a:ext cx="571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26273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0">
                <a:solidFill>
                  <a:srgbClr val="526273"/>
                </a:solidFill>
                <a:latin typeface="맑은 고딕"/>
                <a:ea typeface="맑은 고딕"/>
                <a:cs typeface="맑은 고딕"/>
              </a:rPr>
              <a:t>승인된 데모 계정과 로컬 테스트 시나리오 사용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5BAA4A-A145-4E4C-88A3-780AE7CEE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E5AA8"/>
                </a:solidFill>
                <a:latin typeface="맑은 고딕"/>
                <a:ea typeface="맑은 고딕"/>
                <a:cs typeface="맑은 고딕"/>
              </a:defRPr>
            </a:pPr>
            <a:r>
              <a:rPr sz="2850" b="1">
                <a:solidFill>
                  <a:srgbClr val="1E5AA8"/>
                </a:solidFill>
                <a:latin typeface="맑은 고딕"/>
                <a:ea typeface="맑은 고딕"/>
                <a:cs typeface="맑은 고딕"/>
              </a:rPr>
              <a:t>감사합니다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E9664C-DA27-4174-A8DF-884170D79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57850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152A43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0">
                <a:solidFill>
                  <a:srgbClr val="152A43"/>
                </a:solidFill>
                <a:latin typeface="맑은 고딕"/>
                <a:ea typeface="맑은 고딕"/>
                <a:cs typeface="맑은 고딕"/>
              </a:rPr>
              <a:t>NEXORA  |  Web Security + SentinelOps</a:t>
            </a:r>
          </a:p>
        </p:txBody>
      </p:sp>
    </p:spTree>
    <p:extLst>
      <p:ext uri="{BB962C8B-B14F-4D97-AF65-F5344CB8AC3E}">
        <p14:creationId xmlns:p14="http://schemas.microsoft.com/office/powerpoint/2010/main" val="4657399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2026-10-07T06:52:26.2510000Z</dcterms:created>
  <dcterms:modified xsi:type="dcterms:W3CDTF">2026-10-07T06:52:26.2510000Z</dcterms:modified>
</coreProperties>
</file>