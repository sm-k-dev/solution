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7ab8002f4040bb" /><Relationship Type="http://schemas.openxmlformats.org/officeDocument/2006/relationships/extended-properties" Target="/docProps/app.xml" Id="R8ce59f0727224481" /><Relationship Type="http://schemas.openxmlformats.org/officeDocument/2006/relationships/officeDocument" Target="/ppt/presentation.xml" Id="R31bfe76b055542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aac66db09b46e3"/>
  </p:sldMasterIdLst>
  <p:notesMasterIdLst>
    <p:notesMasterId xmlns:r="http://schemas.openxmlformats.org/officeDocument/2006/relationships" r:id="R80fa0bc8cc9d4c5f"/>
  </p:notesMasterIdLst>
  <p:sldIdLst>
    <p:sldId xmlns:r="http://schemas.openxmlformats.org/officeDocument/2006/relationships" id="256" r:id="Rac02f87940f44abe"/>
    <p:sldId xmlns:r="http://schemas.openxmlformats.org/officeDocument/2006/relationships" id="257" r:id="Re7086c304b8141f8"/>
    <p:sldId xmlns:r="http://schemas.openxmlformats.org/officeDocument/2006/relationships" id="258" r:id="Rf56fba63ef3a4107"/>
    <p:sldId xmlns:r="http://schemas.openxmlformats.org/officeDocument/2006/relationships" id="259" r:id="Rc40441f80b0c4dbf"/>
    <p:sldId xmlns:r="http://schemas.openxmlformats.org/officeDocument/2006/relationships" id="260" r:id="R4b810f971f014c88"/>
    <p:sldId xmlns:r="http://schemas.openxmlformats.org/officeDocument/2006/relationships" id="261" r:id="R66f58a7ae7424def"/>
    <p:sldId xmlns:r="http://schemas.openxmlformats.org/officeDocument/2006/relationships" id="262" r:id="R51432bb7b7e14233"/>
    <p:sldId xmlns:r="http://schemas.openxmlformats.org/officeDocument/2006/relationships" id="263" r:id="Re82cd4b1a8534053"/>
    <p:sldId xmlns:r="http://schemas.openxmlformats.org/officeDocument/2006/relationships" id="264" r:id="R751e4dcf18904913"/>
    <p:sldId xmlns:r="http://schemas.openxmlformats.org/officeDocument/2006/relationships" id="265" r:id="Rc8f0a3696551463c"/>
    <p:sldId xmlns:r="http://schemas.openxmlformats.org/officeDocument/2006/relationships" id="266" r:id="Rd77ab5d59ae847e0"/>
    <p:sldId xmlns:r="http://schemas.openxmlformats.org/officeDocument/2006/relationships" id="267" r:id="Rcf7d39ae9db446e4"/>
    <p:sldId xmlns:r="http://schemas.openxmlformats.org/officeDocument/2006/relationships" id="268" r:id="Rc86afb74a8854685"/>
    <p:sldId xmlns:r="http://schemas.openxmlformats.org/officeDocument/2006/relationships" id="269" r:id="R430147fbeeee428b"/>
    <p:sldId xmlns:r="http://schemas.openxmlformats.org/officeDocument/2006/relationships" id="270" r:id="Rb8cd2703051940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f5eb11f6d844a1" /><Relationship Type="http://schemas.openxmlformats.org/officeDocument/2006/relationships/slideMaster" Target="/ppt/slideMasters/slideMaster1.xml" Id="R97aac66db09b46e3" /><Relationship Type="http://schemas.openxmlformats.org/officeDocument/2006/relationships/notesMaster" Target="/ppt/notesMasters/notesMaster1.xml" Id="R80fa0bc8cc9d4c5f" /><Relationship Type="http://schemas.openxmlformats.org/officeDocument/2006/relationships/presProps" Target="/ppt/presProps.xml" Id="Rc5039b83fdf746e6" /><Relationship Type="http://schemas.openxmlformats.org/officeDocument/2006/relationships/tableStyles" Target="/ppt/tableStyles.xml" Id="R10f7caf6dddc4c8f" /><Relationship Type="http://schemas.openxmlformats.org/officeDocument/2006/relationships/slide" Target="/ppt/slides/slide1.xml" Id="Rac02f87940f44abe" /><Relationship Type="http://schemas.openxmlformats.org/officeDocument/2006/relationships/slide" Target="/ppt/slides/slide2.xml" Id="Re7086c304b8141f8" /><Relationship Type="http://schemas.openxmlformats.org/officeDocument/2006/relationships/slide" Target="/ppt/slides/slide3.xml" Id="Rf56fba63ef3a4107" /><Relationship Type="http://schemas.openxmlformats.org/officeDocument/2006/relationships/slide" Target="/ppt/slides/slide4.xml" Id="Rc40441f80b0c4dbf" /><Relationship Type="http://schemas.openxmlformats.org/officeDocument/2006/relationships/slide" Target="/ppt/slides/slide5.xml" Id="R4b810f971f014c88" /><Relationship Type="http://schemas.openxmlformats.org/officeDocument/2006/relationships/slide" Target="/ppt/slides/slide6.xml" Id="R66f58a7ae7424def" /><Relationship Type="http://schemas.openxmlformats.org/officeDocument/2006/relationships/slide" Target="/ppt/slides/slide7.xml" Id="R51432bb7b7e14233" /><Relationship Type="http://schemas.openxmlformats.org/officeDocument/2006/relationships/slide" Target="/ppt/slides/slide8.xml" Id="Re82cd4b1a8534053" /><Relationship Type="http://schemas.openxmlformats.org/officeDocument/2006/relationships/slide" Target="/ppt/slides/slide9.xml" Id="R751e4dcf18904913" /><Relationship Type="http://schemas.openxmlformats.org/officeDocument/2006/relationships/slide" Target="/ppt/slides/slide10.xml" Id="Rc8f0a3696551463c" /><Relationship Type="http://schemas.openxmlformats.org/officeDocument/2006/relationships/slide" Target="/ppt/slides/slide11.xml" Id="Rd77ab5d59ae847e0" /><Relationship Type="http://schemas.openxmlformats.org/officeDocument/2006/relationships/slide" Target="/ppt/slides/slide12.xml" Id="Rcf7d39ae9db446e4" /><Relationship Type="http://schemas.openxmlformats.org/officeDocument/2006/relationships/slide" Target="/ppt/slides/slide13.xml" Id="Rc86afb74a8854685" /><Relationship Type="http://schemas.openxmlformats.org/officeDocument/2006/relationships/slide" Target="/ppt/slides/slide14.xml" Id="R430147fbeeee428b" /><Relationship Type="http://schemas.openxmlformats.org/officeDocument/2006/relationships/slide" Target="/ppt/slides/slide15.xml" Id="Rb8cd2703051940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9b5a7d9e7945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f2054c00b941d8" /><Relationship Type="http://schemas.openxmlformats.org/officeDocument/2006/relationships/notesMaster" Target="/ppt/notesMasters/notesMaster1.xml" Id="R1a9652c85a4b4a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0a916762e647b8" /><Relationship Type="http://schemas.openxmlformats.org/officeDocument/2006/relationships/notesMaster" Target="/ppt/notesMasters/notesMaster1.xml" Id="Rdca62d51818341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c3b80d8e80488e" /><Relationship Type="http://schemas.openxmlformats.org/officeDocument/2006/relationships/notesMaster" Target="/ppt/notesMasters/notesMaster1.xml" Id="R90a0527ab16347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d499d2794b468d" /><Relationship Type="http://schemas.openxmlformats.org/officeDocument/2006/relationships/notesMaster" Target="/ppt/notesMasters/notesMaster1.xml" Id="R66d82bce3a5d48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9c89a5d81a4e7e" /><Relationship Type="http://schemas.openxmlformats.org/officeDocument/2006/relationships/notesMaster" Target="/ppt/notesMasters/notesMaster1.xml" Id="Rceb7af0329ca48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8b791992ce4625" /><Relationship Type="http://schemas.openxmlformats.org/officeDocument/2006/relationships/notesMaster" Target="/ppt/notesMasters/notesMaster1.xml" Id="Rfd6f472ff59e4b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65349e76404c19" /><Relationship Type="http://schemas.openxmlformats.org/officeDocument/2006/relationships/notesMaster" Target="/ppt/notesMasters/notesMaster1.xml" Id="R8ee75b744ad941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65c8e7324740fb" /><Relationship Type="http://schemas.openxmlformats.org/officeDocument/2006/relationships/notesMaster" Target="/ppt/notesMasters/notesMaster1.xml" Id="R4dda09a2d23442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4b90b7d8d245e0" /><Relationship Type="http://schemas.openxmlformats.org/officeDocument/2006/relationships/notesMaster" Target="/ppt/notesMasters/notesMaster1.xml" Id="Rfe3d2c1d7d1b40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c8315fb7e64780" /><Relationship Type="http://schemas.openxmlformats.org/officeDocument/2006/relationships/notesMaster" Target="/ppt/notesMasters/notesMaster1.xml" Id="Ra237cf67ced247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afaab09f634f15" /><Relationship Type="http://schemas.openxmlformats.org/officeDocument/2006/relationships/notesMaster" Target="/ppt/notesMasters/notesMaster1.xml" Id="R9d5c2e97a2d744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e4ddb1670049ce" /><Relationship Type="http://schemas.openxmlformats.org/officeDocument/2006/relationships/notesMaster" Target="/ppt/notesMasters/notesMaster1.xml" Id="Rd8eb068cf4e84cc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ca7071a3144a4b" /><Relationship Type="http://schemas.openxmlformats.org/officeDocument/2006/relationships/notesMaster" Target="/ppt/notesMasters/notesMaster1.xml" Id="R7b4278a4017046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3eeec8f9eea4afc" /><Relationship Type="http://schemas.openxmlformats.org/officeDocument/2006/relationships/notesMaster" Target="/ppt/notesMasters/notesMaster1.xml" Id="Rb5ea7b88b8b64dd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da89ff414c414a" /><Relationship Type="http://schemas.openxmlformats.org/officeDocument/2006/relationships/notesMaster" Target="/ppt/notesMasters/notesMaster1.xml" Id="Ree2985687dee43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c79b9de4c64bf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2e4eaf2c784fb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7abd75bd6c49d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64b6e0f62343a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eb31c038ef4f6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2d5655101649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DE3B6E-C0D1-45EE-8253-9307902F6A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17F6609-DF09-433B-8B4E-00DF915DEBE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99C353A-194B-4288-B027-FAAB25AECE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862897-F113-4059-A7DA-C1909D0988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6896669-3785-45AE-A528-D17308F9DC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77AE265-B555-43B7-9852-D6CAF40646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B8EE9B-F69A-4181-8F65-1C131EC7A8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11762D5-0B4D-4D20-B927-A508D1C7AEB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EE7C40-CEA7-4541-9E19-F2C93D9345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C5C792-8B60-47A3-8E12-000A702DB4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2b8b37c5064df0" /><Relationship Type="http://schemas.openxmlformats.org/officeDocument/2006/relationships/slideLayout" Target="/ppt/slideLayouts/slideLayout1.xml" Id="Rf7f1bb4a76fd479c" /><Relationship Type="http://schemas.openxmlformats.org/officeDocument/2006/relationships/slideLayout" Target="/ppt/slideLayouts/slideLayout2.xml" Id="Rf6d93234776445f5" /><Relationship Type="http://schemas.openxmlformats.org/officeDocument/2006/relationships/slideLayout" Target="/ppt/slideLayouts/slideLayout3.xml" Id="Re54653fa5e1b4b0a" /><Relationship Type="http://schemas.openxmlformats.org/officeDocument/2006/relationships/slideLayout" Target="/ppt/slideLayouts/slideLayout4.xml" Id="R90b6081d4eef455c" /><Relationship Type="http://schemas.openxmlformats.org/officeDocument/2006/relationships/slideLayout" Target="/ppt/slideLayouts/slideLayout5.xml" Id="Rce21c443844a4b8e" /><Relationship Type="http://schemas.openxmlformats.org/officeDocument/2006/relationships/slideLayout" Target="/ppt/slideLayouts/slideLayout6.xml" Id="R3adb715bfad64d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f1bb4a76fd479c"/>
    <p:sldLayoutId xmlns:r="http://schemas.openxmlformats.org/officeDocument/2006/relationships" id="2147483650" r:id="Rf6d93234776445f5"/>
    <p:sldLayoutId xmlns:r="http://schemas.openxmlformats.org/officeDocument/2006/relationships" id="2147483651" r:id="Re54653fa5e1b4b0a"/>
    <p:sldLayoutId xmlns:r="http://schemas.openxmlformats.org/officeDocument/2006/relationships" id="2147483652" r:id="R90b6081d4eef455c"/>
    <p:sldLayoutId xmlns:r="http://schemas.openxmlformats.org/officeDocument/2006/relationships" id="2147483653" r:id="Rce21c443844a4b8e"/>
    <p:sldLayoutId xmlns:r="http://schemas.openxmlformats.org/officeDocument/2006/relationships" id="2147483654" r:id="R3adb715bfad64d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1a2768e95d4f9c" /><Relationship Type="http://schemas.openxmlformats.org/officeDocument/2006/relationships/image" Target="/ppt/media/image.png" Id="Ra87adf615f91468d" /><Relationship Type="http://schemas.openxmlformats.org/officeDocument/2006/relationships/image" Target="/ppt/media/image2.png" Id="Rb49c9fb5da3c4bd2" /><Relationship Type="http://schemas.openxmlformats.org/officeDocument/2006/relationships/notesSlide" Target="/ppt/notesSlides/notesSlide1.xml" Id="R399e1c2a504c4b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9d3eb5d8bc4720" /><Relationship Type="http://schemas.openxmlformats.org/officeDocument/2006/relationships/image" Target="/ppt/media/image3.png" Id="R0537fd6944ca460d" /><Relationship Type="http://schemas.openxmlformats.org/officeDocument/2006/relationships/image" Target="/ppt/media/image4.png" Id="Rf4051530f963468a" /><Relationship Type="http://schemas.openxmlformats.org/officeDocument/2006/relationships/notesSlide" Target="/ppt/notesSlides/notesSlide2.xml" Id="R10985f39402640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b14f08ec9b48a2" /><Relationship Type="http://schemas.openxmlformats.org/officeDocument/2006/relationships/image" Target="/ppt/media/image5.png" Id="R96d119cc31734592" /><Relationship Type="http://schemas.openxmlformats.org/officeDocument/2006/relationships/image" Target="/ppt/media/image6.png" Id="Rb03b1a3afd524d68" /><Relationship Type="http://schemas.openxmlformats.org/officeDocument/2006/relationships/notesSlide" Target="/ppt/notesSlides/notesSlide3.xml" Id="Re36864062fb641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252392f6ab46aa" /><Relationship Type="http://schemas.openxmlformats.org/officeDocument/2006/relationships/image" Target="/ppt/media/image7.png" Id="R10dd773b4f8d461f" /><Relationship Type="http://schemas.openxmlformats.org/officeDocument/2006/relationships/image" Target="/ppt/media/image8.png" Id="R5aa34aa8accd4af4" /><Relationship Type="http://schemas.openxmlformats.org/officeDocument/2006/relationships/notesSlide" Target="/ppt/notesSlides/notesSlide4.xml" Id="Rd15e3c3141444b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ccba162ba84476" /><Relationship Type="http://schemas.openxmlformats.org/officeDocument/2006/relationships/image" Target="/ppt/media/image9.png" Id="R8d0f4e58f7334530" /><Relationship Type="http://schemas.openxmlformats.org/officeDocument/2006/relationships/image" Target="/ppt/media/image10.png" Id="Rb9b65e52b93d4a7d" /><Relationship Type="http://schemas.openxmlformats.org/officeDocument/2006/relationships/notesSlide" Target="/ppt/notesSlides/notesSlide5.xml" Id="R12d839c36f434a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e01aaa213d4d2a" /><Relationship Type="http://schemas.openxmlformats.org/officeDocument/2006/relationships/image" Target="/ppt/media/image11.png" Id="R368f513c28f34407" /><Relationship Type="http://schemas.openxmlformats.org/officeDocument/2006/relationships/image" Target="/ppt/media/image12.png" Id="R54706b6e07564b05" /><Relationship Type="http://schemas.openxmlformats.org/officeDocument/2006/relationships/notesSlide" Target="/ppt/notesSlides/notesSlide6.xml" Id="Rf01f2f310a8a4c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c9a0fd259445e4" /><Relationship Type="http://schemas.openxmlformats.org/officeDocument/2006/relationships/image" Target="/ppt/media/image13.png" Id="Rd272a104c876427d" /><Relationship Type="http://schemas.openxmlformats.org/officeDocument/2006/relationships/image" Target="/ppt/media/image14.png" Id="R5df5b57562004258" /><Relationship Type="http://schemas.openxmlformats.org/officeDocument/2006/relationships/notesSlide" Target="/ppt/notesSlides/notesSlide7.xml" Id="R8753a7b661894f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f90917637c42da" /><Relationship Type="http://schemas.openxmlformats.org/officeDocument/2006/relationships/image" Target="/ppt/media/image15.png" Id="R33a16b08e87445f2" /><Relationship Type="http://schemas.openxmlformats.org/officeDocument/2006/relationships/image" Target="/ppt/media/image16.png" Id="R298cee2dbae94c24" /><Relationship Type="http://schemas.openxmlformats.org/officeDocument/2006/relationships/notesSlide" Target="/ppt/notesSlides/notesSlide8.xml" Id="R29fadd12878046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be00a13d7241f9" /><Relationship Type="http://schemas.openxmlformats.org/officeDocument/2006/relationships/image" Target="/ppt/media/image17.png" Id="R24a2fe453ac44f86" /><Relationship Type="http://schemas.openxmlformats.org/officeDocument/2006/relationships/image" Target="/ppt/media/image18.png" Id="Rcdfb2943fd334a01" /><Relationship Type="http://schemas.openxmlformats.org/officeDocument/2006/relationships/notesSlide" Target="/ppt/notesSlides/notesSlide9.xml" Id="R373ee429eb2446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8c118883643b7" /><Relationship Type="http://schemas.openxmlformats.org/officeDocument/2006/relationships/image" Target="/ppt/media/image19.png" Id="Rf61edbe635574026" /><Relationship Type="http://schemas.openxmlformats.org/officeDocument/2006/relationships/image" Target="/ppt/media/image20.png" Id="Rb3236704558141ce" /><Relationship Type="http://schemas.openxmlformats.org/officeDocument/2006/relationships/notesSlide" Target="/ppt/notesSlides/notesSlide10.xml" Id="R06ef3383c6f04d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b3f5d0a2c84854" /><Relationship Type="http://schemas.openxmlformats.org/officeDocument/2006/relationships/image" Target="/ppt/media/image21.png" Id="R6d702d955df44e63" /><Relationship Type="http://schemas.openxmlformats.org/officeDocument/2006/relationships/image" Target="/ppt/media/image22.png" Id="R59eaaeb676614e45" /><Relationship Type="http://schemas.openxmlformats.org/officeDocument/2006/relationships/notesSlide" Target="/ppt/notesSlides/notesSlide11.xml" Id="Rf7bc6982b17048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2af9b4ece4454d" /><Relationship Type="http://schemas.openxmlformats.org/officeDocument/2006/relationships/image" Target="/ppt/media/image23.png" Id="Rc458bda333ca4b9e" /><Relationship Type="http://schemas.openxmlformats.org/officeDocument/2006/relationships/image" Target="/ppt/media/image24.png" Id="Rcd4db0033653415d" /><Relationship Type="http://schemas.openxmlformats.org/officeDocument/2006/relationships/notesSlide" Target="/ppt/notesSlides/notesSlide12.xml" Id="Recfaae95c3db45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69b9fc710949de" /><Relationship Type="http://schemas.openxmlformats.org/officeDocument/2006/relationships/image" Target="/ppt/media/image25.png" Id="Re813476360754a38" /><Relationship Type="http://schemas.openxmlformats.org/officeDocument/2006/relationships/image" Target="/ppt/media/image26.png" Id="R82a11ecea6b64036" /><Relationship Type="http://schemas.openxmlformats.org/officeDocument/2006/relationships/notesSlide" Target="/ppt/notesSlides/notesSlide13.xml" Id="Rfa7df0d8c1774c9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5c242c85374ddd" /><Relationship Type="http://schemas.openxmlformats.org/officeDocument/2006/relationships/image" Target="/ppt/media/image27.png" Id="Rec581c865f48461a" /><Relationship Type="http://schemas.openxmlformats.org/officeDocument/2006/relationships/image" Target="/ppt/media/image28.png" Id="Rc07422a5efd84b2a" /><Relationship Type="http://schemas.openxmlformats.org/officeDocument/2006/relationships/notesSlide" Target="/ppt/notesSlides/notesSlide14.xml" Id="R3d06a9e46d21497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e6d95b97a84063" /><Relationship Type="http://schemas.openxmlformats.org/officeDocument/2006/relationships/image" Target="/ppt/media/image29.png" Id="Rb7a92039ce8045f5" /><Relationship Type="http://schemas.openxmlformats.org/officeDocument/2006/relationships/image" Target="/ppt/media/image30.png" Id="R9e008675ba83432b" /><Relationship Type="http://schemas.openxmlformats.org/officeDocument/2006/relationships/notesSlide" Target="/ppt/notesSlides/notesSlide15.xml" Id="R26a4bd0a457147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06AC56-1A33-42CE-B755-658D94E9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89C67-CF35-4F63-AFAB-D64AD398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19125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6018C-9230-46D6-845F-FF8BA1BB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04950"/>
            <a:ext cx="2190750" cy="2190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D9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5A353-BEB0-4B06-B4ED-0762C5DC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5B6AD-D268-4BB5-90BF-1F5C36FB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953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D9E6F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D9E6F5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D9E6F5"/>
                </a:solidFill>
                <a:latin typeface="맑은 고딕"/>
                <a:ea typeface="맑은 고딕"/>
                <a:cs typeface="맑은 고딕"/>
              </a:rPr>
              <a:t>K-Digital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8773C-445A-4852-8BDE-AD605029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552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pPr>
            <a:r>
              <a:rPr sz="2850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rPr>
              <a:t>NEXORA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D2FF5-4D65-4940-B641-14F4DFB7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95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4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보안 위협 관제와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4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인시던트 대응 웹 서비스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A49C2-BF6B-4AD3-BC63-09E50CD8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9E6F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D9E6F5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D9E6F5"/>
                </a:solidFill>
                <a:latin typeface="맑은 고딕"/>
                <a:ea typeface="맑은 고딕"/>
                <a:cs typeface="맑은 고딕"/>
              </a:rPr>
              <a:t>Web Security + SentinelOps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B0C0F-3BDB-43B4-95E7-08F08743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9E6F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D9E6F5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D9E6F5"/>
                </a:solidFill>
                <a:latin typeface="맑은 고딕"/>
                <a:ea typeface="맑은 고딕"/>
                <a:cs typeface="맑은 고딕"/>
              </a:rPr>
              <a:t>세미 팀프로젝트 결과보고서  ·  1조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E04D8-6E8D-4C49-92BB-8CBFE534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9675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9E6F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D9E6F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D9E6F5"/>
                </a:solidFill>
                <a:latin typeface="맑은 고딕"/>
                <a:ea typeface="맑은 고딕"/>
                <a:cs typeface="맑은 고딕"/>
              </a:rPr>
              <a:t>김순민  ·  유승민  ·  이현우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7CCFF-178D-43AA-9850-7A53ACB8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9CBE0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B9CBE0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B9CBE0"/>
                </a:solidFill>
                <a:latin typeface="맑은 고딕"/>
                <a:ea typeface="맑은 고딕"/>
                <a:cs typeface="맑은 고딕"/>
              </a:rPr>
              <a:t>2026.10.25 기준  |  발표 예정 2026.10.26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0513F-118E-4A54-A47E-F9ADFCC8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EFA3D-4DC9-4EE2-8271-09566DED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K-Digital Training  ·  KH 아카데미 부산지원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BE9A7-CA6E-47AC-AEFD-024280CAA4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adf615f91468d"/>
          <a:stretch xmlns:a="http://schemas.openxmlformats.org/drawingml/2006/main"/>
        </p:blipFill>
        <p:spPr>
          <a:xfrm xmlns:a="http://schemas.openxmlformats.org/drawingml/2006/main">
            <a:off x="8785947" y="6286500"/>
            <a:ext cx="1249507" cy="371475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418864-C5A1-4BCF-A7A7-20A1F18128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c9fb5da3c4bd2"/>
          <a:stretch xmlns:a="http://schemas.openxmlformats.org/drawingml/2006/main"/>
        </p:blipFill>
        <p:spPr>
          <a:xfrm xmlns:a="http://schemas.openxmlformats.org/drawingml/2006/main">
            <a:off x="10281920" y="6286500"/>
            <a:ext cx="1172210" cy="3714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8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1EC7C8-58C8-4A0D-B4A0-AC539488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F788D-E627-4A86-A305-9EE9A8D3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0"/>
            <a:ext cx="1571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2E64B-53D3-479A-8C62-13D5807E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K-Digital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8B665-D9B7-4231-93FB-276F957D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rPr>
              <a:t>01 ·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4C88C-BDAC-4E73-81F2-A0C3166B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발표 구성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27BD6-11AE-416B-AE11-31113029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기획 배경부터 팀별 구현 내용과 자체 평가까지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975D3-32DA-4A5F-9D04-2EAC1AA6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B1648-0204-4902-ABF9-09325697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5E9FA-F859-4002-89E0-D074C902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K-Digital Training  ·  KH 아카데미 부산지원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437E2-5967-4A90-9F83-74BD2606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4AD3F-DEBE-4ACF-9007-867555FBEA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37fd6944ca460d"/>
          <a:stretch xmlns:a="http://schemas.openxmlformats.org/drawingml/2006/main"/>
        </p:blipFill>
        <p:spPr>
          <a:xfrm xmlns:a="http://schemas.openxmlformats.org/drawingml/2006/main">
            <a:off x="8814955" y="6353175"/>
            <a:ext cx="1153391" cy="3429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E9D1E-6D7F-4423-BB27-1D7D52BE2E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051530f963468a"/>
          <a:stretch xmlns:a="http://schemas.openxmlformats.org/drawingml/2006/main"/>
        </p:blipFill>
        <p:spPr>
          <a:xfrm xmlns:a="http://schemas.openxmlformats.org/drawingml/2006/main">
            <a:off x="10327005" y="6353175"/>
            <a:ext cx="1082040" cy="3429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5B88C-9EFF-4585-9237-3EE1C092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F57CD-E1DE-4627-94E0-CE0A29BF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8992C-33E8-48FC-B180-C453F8BA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프로젝트 개요와 서비스 범위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546DFA-9578-4E67-81CE-90C88800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B156CD-72AC-4628-8F0D-ED15A8E5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B60D4F-764D-408D-A3E0-3A0ACCB7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718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시스템 구조와 수행 절차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DB4EBB-492B-4803-8794-8EE857D6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9B2A4D-D0FF-4EE3-881A-45400CA5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58A824-3670-4151-B478-276BD314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147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담당자별 구현 경과와 핵심 코드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AFE987-BA47-46ED-AC91-8EA9BCC4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6FDA8C-B3AE-48E7-B016-21CBB7E3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B5CE58-A04D-41FE-A383-803EC5BE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577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통합 결과와 검증 상태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8FCC52-80BB-41DB-B414-A13B72BA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1575E1-B8B4-4AD6-B6D3-FC64E30E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FE3961-CD0C-49D2-918D-9AFB3597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006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자체 평가와 보완 계획</a:t>
            </a:r>
          </a:p>
        </p:txBody>
      </p:sp>
    </p:spTree>
    <p:extLst>
      <p:ext uri="{BB962C8B-B14F-4D97-AF65-F5344CB8AC3E}">
        <p14:creationId xmlns:p14="http://schemas.microsoft.com/office/powerpoint/2010/main" val="15735387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4EDACA-F156-4D45-B026-A451F284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94F0B-1028-40B5-B775-04CE90D4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0"/>
            <a:ext cx="1571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4C84B-2A5E-4018-836A-0BD7516E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K-Digital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4F519-8473-4D87-9400-5B4FE749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rPr>
              <a:t>01 ·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35424-D824-4EA6-88FA-6423544D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프로젝트 개요와 목표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C4298-CC7A-4B71-B3AA-DA3913C9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NEXORA의 보안 운영 흐름을 웹 애플리케이션으로 구현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DA6E1-9E0F-4E8D-BBE2-87875C23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BA5DD-4554-4A99-A302-00B31233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6A7B1-CA5E-4AAF-83A6-F3201CE3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K-Digital Training  ·  KH 아카데미 부산지원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CD6D14-DADA-4795-B3BB-8DD443AB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20A82-EC9C-45AE-AC9F-32237AAD1B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119cc31734592"/>
          <a:stretch xmlns:a="http://schemas.openxmlformats.org/drawingml/2006/main"/>
        </p:blipFill>
        <p:spPr>
          <a:xfrm xmlns:a="http://schemas.openxmlformats.org/drawingml/2006/main">
            <a:off x="8814955" y="6353175"/>
            <a:ext cx="1153391" cy="3429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874C4-29D6-4D64-9F71-4C99BF4821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b1a3afd524d68"/>
          <a:stretch xmlns:a="http://schemas.openxmlformats.org/drawingml/2006/main"/>
        </p:blipFill>
        <p:spPr>
          <a:xfrm xmlns:a="http://schemas.openxmlformats.org/drawingml/2006/main">
            <a:off x="10327005" y="6353175"/>
            <a:ext cx="1082040" cy="3429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8B545-805F-40A1-B278-1647E32E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6ACC4-2316-40DF-9507-236AEC2C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통합 관제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504240-D9EF-4349-9F1D-3FDE885B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33600"/>
            <a:ext cx="855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웹 요청·AI 프롬프트 위협과 서버 오류를 한 화면에서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34C52-AC52-4722-A9E7-FED7AAED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1B650-0853-41D6-B14B-5629AADD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탐지 기록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454230-B504-4B22-9468-F681C295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14650"/>
            <a:ext cx="855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이벤트를 기록하고 위험 유형과 심각도에 따라 분류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CD32DA-39B8-46F1-B813-F0417922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1B275C-29D6-40AD-8BCC-B696C3C4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대응 지원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5128C8-60B7-4D67-AF7C-1D4F16D8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95700"/>
            <a:ext cx="855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관리자 확인, 상태 이력, AI 요약과 중요 알림으로 연결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748A5F-1A06-45BC-9724-B1C1451F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3850B1-854A-4EDA-B7E7-4684C180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서비스 범위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93EA33-9698-44FB-B052-A9F996D6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76750"/>
            <a:ext cx="855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회원·커뮤니티·문의 기능을 포함한 기업 보안 사이트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078A2B-20BE-4CBA-B85E-CB52F97D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10477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5BD469-A045-4A5C-BADE-C6337D48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864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핵심 흐름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70C269-5049-4E1C-8954-2DE6A8D1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86400"/>
            <a:ext cx="833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탐지 규칙 적용  →  이벤트 저장  →  관제 확인  →  대응 기록</a:t>
            </a:r>
          </a:p>
        </p:txBody>
      </p:sp>
    </p:spTree>
    <p:extLst>
      <p:ext uri="{BB962C8B-B14F-4D97-AF65-F5344CB8AC3E}">
        <p14:creationId xmlns:p14="http://schemas.microsoft.com/office/powerpoint/2010/main" val="15709242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08EB3E-95B5-4EEF-A70B-9F309CE4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59ECB-CE93-41E6-8AE0-96AC6EBC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0"/>
            <a:ext cx="1571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9477F-E5A7-40E2-8BE8-E5E3994A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K-Digital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2AD14-D25A-48F9-AD73-7140D59A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rPr>
              <a:t>01 ·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0F2D6-79D8-496F-9D29-F5AB6A89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서비스 범위와 주요 기능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BABA5-4F16-4FCB-96E1-EA32E703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초기 기획에서 인프라·사업 요건이 큰 Web Hosting·Web Payment는 제외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7A6F4-CDEF-42FC-A965-FDFCD1A1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D14FA-8E86-40FB-9CEB-B76D727A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A6C87-DA03-40BB-9C43-AE8A9886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K-Digital Training  ·  KH 아카데미 부산지원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66A3C-50A8-4A44-8E4A-F6F46368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58D95-6AB8-440A-B08F-935B899DDE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d773b4f8d461f"/>
          <a:stretch xmlns:a="http://schemas.openxmlformats.org/drawingml/2006/main"/>
        </p:blipFill>
        <p:spPr>
          <a:xfrm xmlns:a="http://schemas.openxmlformats.org/drawingml/2006/main">
            <a:off x="8814955" y="6353175"/>
            <a:ext cx="1153391" cy="3429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F038B8-4480-43BC-8AFD-47CDD117F6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34aa8accd4af4"/>
          <a:stretch xmlns:a="http://schemas.openxmlformats.org/drawingml/2006/main"/>
        </p:blipFill>
        <p:spPr>
          <a:xfrm xmlns:a="http://schemas.openxmlformats.org/drawingml/2006/main">
            <a:off x="10327005" y="6353175"/>
            <a:ext cx="1082040" cy="3429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E639D-34E9-424E-A17E-C868C226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571750" cy="27813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DEA24-A85A-4839-8356-F79C7658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571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EE4DA1-D4A9-4D2D-B5E5-AAE9C429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Web Security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14F68-859F-4166-BE5E-423E779E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21526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웹 요청 위협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AI 프롬프트 위협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규칙 검사 · 마스킹 · 이벤트 기록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87D4C4-5EF0-412B-A1BE-7976BC32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43150"/>
            <a:ext cx="2571750" cy="27813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06E8ED-2138-4E0C-A186-4AD037C2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43150"/>
            <a:ext cx="2571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BF72F8-F403-42BE-9188-CD925888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289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SentinelOps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B3E875-457B-4BFA-92A4-02D27F32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81350"/>
            <a:ext cx="21526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Java 예외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HTTP 5XX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심각도 · 이력 · 장애 대응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CCAF04-144D-44EB-8BFA-3984A171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43150"/>
            <a:ext cx="2571750" cy="27813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4AFDD6-4C64-44B6-86C0-792DC892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43150"/>
            <a:ext cx="2571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4D0FF6-9FD5-4524-B6D0-27253253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289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운영 기능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E4FF03-D756-4997-A680-1EACF2BD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21526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회원 · 커뮤니티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문의 · 관리자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계정과 게시물 관리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56982E-158C-484D-866C-6352CD37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43150"/>
            <a:ext cx="2571750" cy="27813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8189B9-96B6-4986-A28F-6FBE26CD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43150"/>
            <a:ext cx="2571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1DA626-0120-4D60-983D-2DFA069D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289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조회 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1B5A68-5020-474C-94CA-0CCF1A41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81350"/>
            <a:ext cx="21526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SentinelOps · Security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목록 / 상세 GET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API Key 인증 · JSON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1CAEBB-E556-444C-98BB-1E5E22FC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관리자 서비스와 외부 Spring Boot 등에서 조회 API를 사용할 수 있도록 구성</a:t>
            </a:r>
          </a:p>
        </p:txBody>
      </p:sp>
    </p:spTree>
    <p:extLst>
      <p:ext uri="{BB962C8B-B14F-4D97-AF65-F5344CB8AC3E}">
        <p14:creationId xmlns:p14="http://schemas.microsoft.com/office/powerpoint/2010/main" val="10230703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028634-66D1-48AC-BDD3-A8C9111F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A15D7-1599-448B-80D2-C42A2F31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0"/>
            <a:ext cx="1571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464F1-7156-46BC-9A7B-05E428EE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K-Digital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17DC7-FFF3-4753-84B2-786D82F3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rPr>
              <a:t>02 ·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9972C-D0C6-4BB3-8BB9-9FF3795C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시스템 구조와 기술 구성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2B269-A08C-4DB9-B7BF-D8B7ABAB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기존 JSP 화면에 SentinelOps·Security 조회 REST API를 추가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B7B65-5C33-46F3-B9A7-609C6FE0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AC2DE-D3A7-4E02-8EA5-78CB3B4C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E0B68-4F56-4EAB-943B-48FAF2A1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K-Digital Training  ·  KH 아카데미 부산지원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7F4C4-EA55-4447-ADD4-F08C47BE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2402C-30E7-4336-9E7B-5AE7741E44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f4e58f7334530"/>
          <a:stretch xmlns:a="http://schemas.openxmlformats.org/drawingml/2006/main"/>
        </p:blipFill>
        <p:spPr>
          <a:xfrm xmlns:a="http://schemas.openxmlformats.org/drawingml/2006/main">
            <a:off x="8814955" y="6353175"/>
            <a:ext cx="1153391" cy="3429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B714D-26F8-47AA-A39F-8F17F30C2C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65e52b93d4a7d"/>
          <a:stretch xmlns:a="http://schemas.openxmlformats.org/drawingml/2006/main"/>
        </p:blipFill>
        <p:spPr>
          <a:xfrm xmlns:a="http://schemas.openxmlformats.org/drawingml/2006/main">
            <a:off x="10327005" y="6353175"/>
            <a:ext cx="1082040" cy="3429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82357-AF25-413C-A886-9E0D76A0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2428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ABDB7-D7D0-462C-B886-726E2352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2085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화면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39EB5-E611-406F-8AF5-EFF7BEA6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085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JSP · JSTL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공통 CSS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AEE800-B417-406F-BE9F-C3277381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146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18"/>
          </a:bodyPr>
          <a:lstStyle xmlns:a="http://schemas.openxmlformats.org/drawingml/2006/main">
            <a:defPPr algn="ctr">
              <a:defRPr sz="2250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C9D0F7-865D-4F74-BAC5-DF1FBD57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33625"/>
            <a:ext cx="2428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3BE06D-F9DF-4F76-8F13-1D35908F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33650"/>
            <a:ext cx="2085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요청 처리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9C10C0-A8CC-44E6-8283-8040D689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52750"/>
            <a:ext cx="2085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Servlet / Filter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Fetch API + REST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180EBC-0145-4D62-88D8-A75383D8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146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18"/>
          </a:bodyPr>
          <a:lstStyle xmlns:a="http://schemas.openxmlformats.org/drawingml/2006/main">
            <a:defPPr algn="ctr">
              <a:defRPr sz="2250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8521E1-B41C-40A0-85A1-523E4CC0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2428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6D46CE-83AC-4925-A701-4583C7D6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33650"/>
            <a:ext cx="2085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업무 로직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698AFC-ED43-4DC3-8969-774205DC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52750"/>
            <a:ext cx="2085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Service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규칙 기반 분류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0D8016-6843-4A76-85F7-C4FE0FFE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146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18"/>
          </a:bodyPr>
          <a:lstStyle xmlns:a="http://schemas.openxmlformats.org/drawingml/2006/main">
            <a:defPPr algn="ctr">
              <a:defRPr sz="2250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E99879-5871-4E08-8C49-6E09DB5D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33625"/>
            <a:ext cx="2428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389933-FCE1-4E54-9658-824174B3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33650"/>
            <a:ext cx="2085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887944-0B0E-474C-8D2F-D93A449D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52750"/>
            <a:ext cx="2085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DAO / JDBC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MySQL 8.x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A54404-5CC0-4876-BF54-1DC12DCD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FD30D2-AF65-4EA9-9D54-3C7CF726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B3D2D3-1F0E-4B4B-BF2C-F84E7906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1007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Java 17 · Apache Tomcat 9 · Servlet/JSP MVC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95A4A8-D438-49FA-A92D-B815E096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810936-D08B-4E8F-A1CD-5B2FBC3F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0"/>
            <a:ext cx="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DF6D32-EF1F-49E4-920D-691C1ACE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0"/>
            <a:ext cx="1007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OpenRouter는 보조 분석에 사용하며 탐지·심각도 결정은 규칙으로 수행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A865B8-A3FF-4FFB-A13A-F3CCBB20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C70F01-E444-4AC9-8391-E09B91C5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76800"/>
            <a:ext cx="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0EAAEA-0B1B-469D-A3D2-D1011A49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76800"/>
            <a:ext cx="1007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Slack Webhook으로 중요 이벤트 알림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600D27-D5BD-4072-918D-443F0B44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72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D34403-5A57-4DA4-8103-2CAE9C88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76850"/>
            <a:ext cx="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55FE70-FB44-4999-A8F7-DA6EDF2F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76850"/>
            <a:ext cx="1007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실제 DB/API/Webhook 비밀 설정은 소스 저장소에서 분리</a:t>
            </a:r>
          </a:p>
        </p:txBody>
      </p:sp>
    </p:spTree>
    <p:extLst>
      <p:ext uri="{BB962C8B-B14F-4D97-AF65-F5344CB8AC3E}">
        <p14:creationId xmlns:p14="http://schemas.microsoft.com/office/powerpoint/2010/main" val="6214206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B5A46D-A308-46D7-8B91-F396F57C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A6CA9-BD81-4469-9D62-DDD54A9E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0"/>
            <a:ext cx="1571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54D44-19A3-42A3-AC1F-D753425B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K-Digital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38836-1B49-47B5-9AE4-110C5D9B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rPr>
              <a:t>02 ·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2050E-B722-4614-B9A2-5EEDE4E5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프로젝트 수행 절차 및 방법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85EAD-622D-42ED-B153-A445186F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요구사항을 기능으로 나누고 각 모듈을 통합해 결과물을 완성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8A4EF-1310-47F6-B65F-5C8C241E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014C0-ED68-40BD-9059-D1E2C8E9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B0C31-54B8-487A-8547-AA9AE281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K-Digital Training  ·  KH 아카데미 부산지원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C753B-FFA1-4CE0-9823-74AD5BEF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DBE80-16B5-4DFB-8059-14A890FCDA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f513c28f34407"/>
          <a:stretch xmlns:a="http://schemas.openxmlformats.org/drawingml/2006/main"/>
        </p:blipFill>
        <p:spPr>
          <a:xfrm xmlns:a="http://schemas.openxmlformats.org/drawingml/2006/main">
            <a:off x="8814955" y="6353175"/>
            <a:ext cx="1153391" cy="3429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1F7F22-FE2A-4BB2-A910-A52645D618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06b6e07564b05"/>
          <a:stretch xmlns:a="http://schemas.openxmlformats.org/drawingml/2006/main"/>
        </p:blipFill>
        <p:spPr>
          <a:xfrm xmlns:a="http://schemas.openxmlformats.org/drawingml/2006/main">
            <a:off x="10327005" y="6353175"/>
            <a:ext cx="1082040" cy="3429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73061-7E49-40B4-9369-10CB3EF4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050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720F55-DFBC-4EB8-924A-53D58E03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CF36D-6078-4D75-8B72-9CFBE78C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43175"/>
            <a:ext cx="38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41108C-698D-4483-A2D6-94B43E54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057400"/>
            <a:ext cx="9810750" cy="561975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22A4A1-F7E7-410D-8221-1584086B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621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기획·요구사항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C1A8F3-C271-4569-AC7E-D7E17960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1621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보안 관제 서비스 범위와 사용자·관리자 요구 정리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CC826A-93A5-4E3F-83ED-5368C433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4514A2-7E63-462C-8735-19DB5777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BC8962-1690-4F91-8DED-38AEC6EE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76600"/>
            <a:ext cx="38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76ED97-604A-47EF-BDDB-E0F78112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790825"/>
            <a:ext cx="9810750" cy="561975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DB7A28-FD47-4329-AA1B-C0C40158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95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45F4B5-CE55-47AC-B6BA-85B656F6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8956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기능별 담당을 나누고 DB·패키지·화면·요청 흐름 설계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5D512C-490B-4481-8D96-7E9CB6F9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265FF9-46E6-47A8-9D01-EC5E0B24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6D05EC-9E4B-4503-831A-24EE73A0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10025"/>
            <a:ext cx="38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243726-9C93-4A24-A329-83B09EF5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0"/>
            <a:ext cx="9810750" cy="561975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D8BB53-8C69-4D35-A30B-49BC8293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290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기능 구현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F9A8F1-C255-4C40-BFF9-F88B0E49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62902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Member·Community·SentinelOps·Security 주요 기능 개발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BCCCC6-B35F-4A0D-AE26-69CEC0FC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06943C-363A-4683-88C6-C50453DE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719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559990-8AE4-4207-B487-6BC2AF9A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43450"/>
            <a:ext cx="38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DA3D23-9494-418E-8A9D-A7AB447A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57675"/>
            <a:ext cx="9810750" cy="561975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C07D7C-B4BF-406B-BC44-A1917BCE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62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통합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3EE17A-EFA0-4240-A9AE-BA845C45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3624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공통 세션·DB·관리자 흐름과 REST API를 연결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A41A87-3A6B-4476-9DE0-69EE81B1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38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9A1A0A-F0F6-4A5F-85E1-D5B34AC9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054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E8A9CD-8C77-440A-9A43-49DE26C8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991100"/>
            <a:ext cx="9810750" cy="561975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F25FB5-180D-4629-9136-A0331471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958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검증·보완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981C26-5ACC-4E8B-AB92-1C0C04AD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0958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기능별 테스트와 배포 환경 확인 항목을 분리해 점검</a:t>
            </a:r>
          </a:p>
        </p:txBody>
      </p:sp>
    </p:spTree>
    <p:extLst>
      <p:ext uri="{BB962C8B-B14F-4D97-AF65-F5344CB8AC3E}">
        <p14:creationId xmlns:p14="http://schemas.microsoft.com/office/powerpoint/2010/main" val="12428829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852E78-9AF8-4DCB-9B27-FB1EFB23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80CF1-E057-4CE5-ADBD-FD429A3D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0"/>
            <a:ext cx="1571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0DF41-3D16-4D8C-B4B0-D9809FA0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K-Digital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CE6E5-A0D5-44FE-9BA8-768E4E14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rPr>
              <a:t>02 ·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17313-E78D-4A57-9C9A-B4C196AE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탐지 판단은 규칙, AI는 분석을 보조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807DD-D777-4CE1-BBFD-A04F3F70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AI가 위협 여부와 심각도를 임의로 결정하지 않도록 역할을 분리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C2227-5B70-482D-A0C4-3544A82C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009A5-3CFD-452C-B279-284E2E8C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6C21E-A916-4701-B835-ACD61E79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K-Digital Training  ·  KH 아카데미 부산지원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37AC1-3C50-455F-AC3F-8E1D4570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F61879-68DD-4A00-B80C-38DE01D089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2a104c876427d"/>
          <a:stretch xmlns:a="http://schemas.openxmlformats.org/drawingml/2006/main"/>
        </p:blipFill>
        <p:spPr>
          <a:xfrm xmlns:a="http://schemas.openxmlformats.org/drawingml/2006/main">
            <a:off x="8814955" y="6353175"/>
            <a:ext cx="1153391" cy="3429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027DF-208A-4E09-B32D-EC46B000E9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5b57562004258"/>
          <a:stretch xmlns:a="http://schemas.openxmlformats.org/drawingml/2006/main"/>
        </p:blipFill>
        <p:spPr>
          <a:xfrm xmlns:a="http://schemas.openxmlformats.org/drawingml/2006/main">
            <a:off x="10327005" y="6353175"/>
            <a:ext cx="1082040" cy="3429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00EBD9-FE37-421B-91D0-EA7CE42E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191125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19D173-90C0-411F-9341-14DB44E9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규칙 기반 탐지·분류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2B684C-69E2-4F2C-8296-D9369CE5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4714875" cy="1743075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0B1C36"/>
          </a:solidFill>
          <a:ln xmlns:a="http://schemas.openxmlformats.org/drawingml/2006/main" w="9525">
            <a:solidFill>
              <a:srgbClr val="0B1C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E2F301-0A01-436A-9D9D-656B4FEF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4333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if (matcher.find() &amp;&amp; matchedCodes.add(rule.code))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  findings.add(new ThreatFinding(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    rule.category, rule.type,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    classifier.classify(rule.type),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    rule.code, excerpt(...)));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451940-8D1F-4DB7-94C8-4E5D1737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4619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373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3738A"/>
                </a:solidFill>
                <a:latin typeface="Consolas"/>
                <a:ea typeface="Consolas"/>
                <a:cs typeface="Consolas"/>
              </a:rPr>
              <a:t>SecurityThreatDetector.java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707D0-A3F3-41EB-8F4E-D50D432C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43125"/>
            <a:ext cx="5534025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C34634-E4DF-45C1-AB5A-898119E5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526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AI 분석과 대응 설명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A445CB-B3AC-4481-BE69-5468E3FE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47975"/>
            <a:ext cx="4905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탐지된 이벤트의 제한된 사실 정보만 전달해 요약·영향·대응 제안을 생성합니다. AI 응답은 저장된 분류와 심각도를 덮어쓰지 않습니다.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4EEDEF-1021-4CDF-BCC2-FFD79ED6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86200"/>
            <a:ext cx="490537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C36"/>
          </a:solidFill>
          <a:ln xmlns:a="http://schemas.openxmlformats.org/drawingml/2006/main" w="9525">
            <a:solidFill>
              <a:srgbClr val="0B1C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D9250F-C350-423C-80B1-E2C599A6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19550"/>
            <a:ext cx="4524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51"/>
          </a:bodyPr>
          <a:lstStyle xmlns:a="http://schemas.openxmlformats.org/drawingml/2006/main">
            <a:defPPr algn="l">
              <a:defRPr sz="1200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Completion completion = openRouter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  .requestJson(SYSTEM_PROMPT, facts, 500);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return mapAnalysis(completion.getFields(),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  completion.getModel());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350C13-8576-4156-9D3D-62683D0E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943475"/>
            <a:ext cx="466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373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3738A"/>
                </a:solidFill>
                <a:latin typeface="Consolas"/>
                <a:ea typeface="Consolas"/>
                <a:cs typeface="Consolas"/>
              </a:rPr>
              <a:t>SecurityAiService.java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9509CE-D323-4A75-AB58-2198AA5B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67350"/>
            <a:ext cx="14287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A54BE3-2F56-44C2-B76C-FD0A1A27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864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개발자 규칙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AF2CED-AA62-4892-BF7A-9BCE66B1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4673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탐지·분류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B71161-ED14-4094-BD2A-B0C561CB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438775"/>
            <a:ext cx="33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F0AF70-261B-4270-97F6-BC03CD66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67350"/>
            <a:ext cx="15240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C2214B-969B-498E-A36D-77922A33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4864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이벤트 저장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265F53-75BB-45AB-BDB0-09BDD8F1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38775"/>
            <a:ext cx="33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DF2E54-5231-409B-A7B9-FB0D8579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67350"/>
            <a:ext cx="18097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487688-A546-468F-B077-2025E3DA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864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2D8067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2D806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2D8067"/>
                </a:solidFill>
                <a:latin typeface="맑은 고딕"/>
                <a:ea typeface="맑은 고딕"/>
                <a:cs typeface="맑은 고딕"/>
              </a:rPr>
              <a:t>AI 요약·대응 제안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5D3C0B-6CD1-449B-BD02-155167E6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438775"/>
            <a:ext cx="33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3C7972-6E43-414E-A032-D36FCA96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467350"/>
            <a:ext cx="21717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19A6F9-0C8F-4A81-ACD4-105281D2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48640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관리자 확인·알림</a:t>
            </a:r>
          </a:p>
        </p:txBody>
      </p:sp>
    </p:spTree>
    <p:extLst>
      <p:ext uri="{BB962C8B-B14F-4D97-AF65-F5344CB8AC3E}">
        <p14:creationId xmlns:p14="http://schemas.microsoft.com/office/powerpoint/2010/main" val="6175858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CE6619-ADDC-422B-B3F6-743897C0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960B-5BAC-4EC6-AC5F-87205CC6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0"/>
            <a:ext cx="1571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64079-1047-489B-A74A-C4D71F53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K-Digital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7DA96-9DCC-495C-8254-1FCABCA3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rPr>
              <a:t>03 ·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FC227-CFF7-49EB-BB91-7D392FDF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김순민 | SentinelOps · Security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75029B-67FD-46ED-B836-7AEC8721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오류와 보안 위협의 탐지·분류·기록·관제 흐름 구현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FAFB6-0D0D-4B73-B7E3-A52C224C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C9786-BF45-4DB5-9514-F9F53959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F112C-0B43-4391-8865-E4B68C23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K-Digital Training  ·  KH 아카데미 부산지원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8A372B-D6D9-42FB-85A8-9AE3514E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A061A-412D-403D-A02F-6A4B1D0A11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16b08e87445f2"/>
          <a:stretch xmlns:a="http://schemas.openxmlformats.org/drawingml/2006/main"/>
        </p:blipFill>
        <p:spPr>
          <a:xfrm xmlns:a="http://schemas.openxmlformats.org/drawingml/2006/main">
            <a:off x="8814955" y="6353175"/>
            <a:ext cx="1153391" cy="3429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D4A433-DBF2-4344-A416-A4F937AA53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cee2dbae94c24"/>
          <a:stretch xmlns:a="http://schemas.openxmlformats.org/drawingml/2006/main"/>
        </p:blipFill>
        <p:spPr>
          <a:xfrm xmlns:a="http://schemas.openxmlformats.org/drawingml/2006/main">
            <a:off x="10327005" y="6353175"/>
            <a:ext cx="1082040" cy="3429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C0881-945A-44EF-9036-07EC3E64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2578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B3173D-9F00-45E5-AB51-839C2979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33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SentinelOps 심각도 분류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D5EEC-7B4E-451E-960E-DE0CAC1C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241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DB 연결 실패·503은 CRITICAL, 계정 요청의 5XX는 CRITICAL로 분류합니다.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5A9E0-13D2-4991-BF98-0D00EBCE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33750"/>
            <a:ext cx="48101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C36"/>
          </a:solidFill>
          <a:ln xmlns:a="http://schemas.openxmlformats.org/drawingml/2006/main" w="9525">
            <a:solidFill>
              <a:srgbClr val="0B1C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E843BF-377E-4258-AF48-9A6CB034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467100"/>
            <a:ext cx="4429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514"/>
          </a:bodyPr>
          <a:lstStyle xmlns:a="http://schemas.openxmlformats.org/drawingml/2006/main">
            <a:defPPr algn="l">
              <a:defRPr sz="1275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if (status == 503 ||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    hasDatabaseConnectionFailure(error))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  return "CRITICAL";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50BA18-0F74-4E44-BC7A-A7F74FCD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339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373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3738A"/>
                </a:solidFill>
                <a:latin typeface="Consolas"/>
                <a:ea typeface="Consolas"/>
                <a:cs typeface="Consolas"/>
              </a:rPr>
              <a:t>SeverityClassifier.java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78B8BB-AE75-4305-9DA7-F2237DC0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43125"/>
            <a:ext cx="54483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22CB41-8DD1-42F7-8887-E865D0E6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336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Security 위협 규칙 검사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292E9A-7881-4BA5-BEE7-1C4715FE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241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웹 입력과 AI 프롬프트를 유형별 규칙으로 검사하고, 같은 규칙은 한 번만 기록합니다.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C8A4AD-E875-48BE-8AFF-6E040228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333750"/>
            <a:ext cx="50006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C36"/>
          </a:solidFill>
          <a:ln xmlns:a="http://schemas.openxmlformats.org/drawingml/2006/main" w="9525">
            <a:solidFill>
              <a:srgbClr val="0B1C3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AB798D-4FBC-4B40-9585-7106854E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67100"/>
            <a:ext cx="4619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109"/>
          </a:bodyPr>
          <a:lstStyle xmlns:a="http://schemas.openxmlformats.org/drawingml/2006/main">
            <a:defPPr algn="l">
              <a:defRPr sz="1200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Matcher matcher = rule.pattern.matcher(bounded);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if (matcher.find() &amp;&amp; matchedCodes.add(rule.code))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  findings.add(new ThreatFinding(...));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DC643B-13D2-4E81-8198-1FFFFADD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533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373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3738A"/>
                </a:solidFill>
                <a:latin typeface="Consolas"/>
                <a:ea typeface="Consolas"/>
                <a:cs typeface="Consolas"/>
              </a:rPr>
              <a:t>SecurityThreatDetector.java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39BFE6-D85F-44F1-AD4C-6D1CDD37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24765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8077E9-B068-4601-BA13-F542DEDA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이벤트 저장·중복 집계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CD963F-02FB-4761-9080-F510EAF8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95900"/>
            <a:ext cx="24765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F81C28-E0A7-4058-B4F5-770A5A90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14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관리자 상세 관제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A1F747-C6FF-44B3-90B4-A7086129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95900"/>
            <a:ext cx="24765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FB2B00-B431-4A82-BDA2-9A355B2D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14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2D8067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2D806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2D8067"/>
                </a:solidFill>
                <a:latin typeface="맑은 고딕"/>
                <a:ea typeface="맑은 고딕"/>
                <a:cs typeface="맑은 고딕"/>
              </a:rPr>
              <a:t>중요 이벤트 Slack 알림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206EAC-7310-4495-9A5C-8511C760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95900"/>
            <a:ext cx="24765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AECE71-253F-46D7-897F-688F04B3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314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SentinelOps·Security 조회 API</a:t>
            </a:r>
          </a:p>
        </p:txBody>
      </p:sp>
    </p:spTree>
    <p:extLst>
      <p:ext uri="{BB962C8B-B14F-4D97-AF65-F5344CB8AC3E}">
        <p14:creationId xmlns:p14="http://schemas.microsoft.com/office/powerpoint/2010/main" val="13983973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BA4779-77AC-49D7-9BB3-E5D9A3EB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0B24D-23B8-4EF9-86F0-3469FACE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0"/>
            <a:ext cx="1571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BF703-BFBA-4C8E-8081-81ED80CE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K-Digital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BD2E9-F28D-4FE0-97A5-BDF00726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rPr>
              <a:t>03 ·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39948-3BD4-4566-9175-3BF6A215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유승민 | Member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20EE5-6C8D-472F-9A1C-60CE5898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회원 가입·로그인·정보 수정과 관리자 회원 관리 구현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FE3A3-4E69-4F80-B157-B0405663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A6CAF-0713-4746-AE9F-FF654E1C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6D657-6A2E-4C0A-98BA-BFD0FE12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K-Digital Training  ·  KH 아카데미 부산지원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A3DB7-FCDC-4D37-A5F5-1EEC973B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EA836-AD76-4E85-B54F-1CDB0AB52A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2fe453ac44f86"/>
          <a:stretch xmlns:a="http://schemas.openxmlformats.org/drawingml/2006/main"/>
        </p:blipFill>
        <p:spPr>
          <a:xfrm xmlns:a="http://schemas.openxmlformats.org/drawingml/2006/main">
            <a:off x="8814955" y="6353175"/>
            <a:ext cx="1153391" cy="3429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1E0D3-C431-4918-9BF5-DC76C9ED16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b2943fd334a01"/>
          <a:stretch xmlns:a="http://schemas.openxmlformats.org/drawingml/2006/main"/>
        </p:blipFill>
        <p:spPr>
          <a:xfrm xmlns:a="http://schemas.openxmlformats.org/drawingml/2006/main">
            <a:off x="10327005" y="6353175"/>
            <a:ext cx="1082040" cy="3429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B867A9-CF7F-44CF-8C0F-B42B33B9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476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EB01A-1473-4EB4-B6C9-130A86A8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500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가입 입력을 검증하고 비밀번호를 해시해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872E7-8C5A-4A5D-8D70-C6424231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4953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중복 아이디·입력 형식·필수값을 확인한 뒤 평문 비밀번호 대신 해시값을 DAO에 전달합니다.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A5CB0A-3AF0-467D-99C5-34A10BA0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5000625" cy="1114425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0B1C36"/>
          </a:solidFill>
          <a:ln xmlns:a="http://schemas.openxmlformats.org/drawingml/2006/main" w="9525">
            <a:solidFill>
              <a:srgbClr val="0B1C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35A357-F453-41B9-A08A-8216D897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46196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616"/>
          </a:bodyPr>
          <a:lstStyle xmlns:a="http://schemas.openxmlformats.org/drawingml/2006/main">
            <a:defPPr algn="l">
              <a:defRPr sz="1200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int result = memberDAO.insertMember(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  loginId, PasswordHasher.hash(password),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  name, email, phone, postcode,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  address, addressDetail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67725-A5D8-4B0B-8829-921F1FFC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373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3738A"/>
                </a:solidFill>
                <a:latin typeface="Consolas"/>
                <a:ea typeface="Consolas"/>
                <a:cs typeface="Consolas"/>
              </a:rPr>
              <a:t>MemberService.java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88BC61-E612-450B-8137-E55E6EDF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19325"/>
            <a:ext cx="5162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1D3F87-D552-4D6C-952D-F09124AE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145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가입·로그인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81740F-A58E-4518-8B49-231EBA0A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14575"/>
            <a:ext cx="3371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검증과 세션 기반 사용자 흐름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4BC70E-97CE-4C0D-874F-71F6E6C1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0375"/>
            <a:ext cx="5162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30DE1A-8B4A-44EF-AD19-0D1DEE53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956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마이페이지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1E0844-4E21-4A10-901E-70D851EE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95625"/>
            <a:ext cx="3371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회원정보·비밀번호 수정, 우편번호 검색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4413DE-4532-4A6F-9A88-744540BD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81425"/>
            <a:ext cx="5162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0A8098-DE3E-4098-BE39-75F9C740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766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관리자 기능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B0D17D-A30F-4C4B-8156-AD0EC16F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76675"/>
            <a:ext cx="3371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회원 조회와 상태 관리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CAA7B2-A706-4FB4-B3A0-B832E315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62475"/>
            <a:ext cx="5162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03E4F5-158B-4371-A20C-32A0119E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577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탈퇴 정책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ED2073-9D5A-4096-AFD0-293449CD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57725"/>
            <a:ext cx="3371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탈퇴 계정과 보유 기간 처리</a:t>
            </a:r>
          </a:p>
        </p:txBody>
      </p:sp>
    </p:spTree>
    <p:extLst>
      <p:ext uri="{BB962C8B-B14F-4D97-AF65-F5344CB8AC3E}">
        <p14:creationId xmlns:p14="http://schemas.microsoft.com/office/powerpoint/2010/main" val="3559057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DFE790-4BBB-48C1-94F6-844A95ED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B2EA9-C0BA-436D-92F3-2F31785D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0"/>
            <a:ext cx="1571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A18F0-0A2F-4D74-904E-4F0FB0F2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K-Digital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2F675-CF87-44A7-A2F6-E4985377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rPr>
              <a:t>03 ·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CA349-12A3-4A35-97BA-5A52F1EE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이현우 | Community 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50E31-A747-4878-AD0F-6DB26536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게시글·댓글·첨부파일과 관리자 게시물 관리를 연결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0A823-3ABE-4A58-AD1B-E7019BCB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B5E05-5768-46A3-81AD-B9667D18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CE37C-1323-4BB5-A8D5-BE67C95E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K-Digital Training  ·  KH 아카데미 부산지원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7A622-C867-42A3-A0FB-04D23A4B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44171-E98E-4CA6-859B-96364E33F9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edbe635574026"/>
          <a:stretch xmlns:a="http://schemas.openxmlformats.org/drawingml/2006/main"/>
        </p:blipFill>
        <p:spPr>
          <a:xfrm xmlns:a="http://schemas.openxmlformats.org/drawingml/2006/main">
            <a:off x="8814955" y="6353175"/>
            <a:ext cx="1153391" cy="3429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1723D-2C50-4DC7-A26F-BE86D945F2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36704558141ce"/>
          <a:stretch xmlns:a="http://schemas.openxmlformats.org/drawingml/2006/main"/>
        </p:blipFill>
        <p:spPr>
          <a:xfrm xmlns:a="http://schemas.openxmlformats.org/drawingml/2006/main">
            <a:off x="10327005" y="6353175"/>
            <a:ext cx="1082040" cy="3429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9F140-EC72-4BB3-8AB9-EF7B81A9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61975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64134F-4173-4CDC-B4BB-BF8DE8B7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수정 권한을 먼저 확인하고 기존 작성자를 보존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74FCC-8979-4007-AF05-A3AF7C0A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813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작성자 또는 관리자 권한을 검사하고, 관리자 수정에서도 원래 글 소유자 정보를 유지합니다.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8BF3B-0F84-47AB-944F-36B240C8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5143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1C36"/>
          </a:solidFill>
          <a:ln xmlns:a="http://schemas.openxmlformats.org/drawingml/2006/main" w="9525">
            <a:solidFill>
              <a:srgbClr val="0B1C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550C7-6263-4D2A-B2C7-634A2532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4762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862"/>
          </a:bodyPr>
          <a:lstStyle xmlns:a="http://schemas.openxmlformats.org/drawingml/2006/main">
            <a:defPPr algn="l">
              <a:defRPr sz="1200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if (!canEdit(req, old))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  resp.sendError(403);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  return;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E4ECF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4ECF8"/>
                </a:solidFill>
                <a:latin typeface="Consolas"/>
                <a:ea typeface="Consolas"/>
                <a:cs typeface="Consolas"/>
              </a:rPr>
              <a:t>b.setMemberId(old.getMemberId());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C229E7-7FA6-4A9C-9039-CC08A708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373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3738A"/>
                </a:solidFill>
                <a:latin typeface="Consolas"/>
                <a:ea typeface="Consolas"/>
                <a:cs typeface="Consolas"/>
              </a:rPr>
              <a:t>BoardController.java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326520-944A-45F0-AFFB-8901C82E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19325"/>
            <a:ext cx="5029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7E6809-11C7-44F4-9FA5-23CF03C6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14575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게시글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CB75DA-62CE-4445-AB6B-B9C095FA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14575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카테고리·검색·페이지 조회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5F491A-597C-4E3C-AB05-24A6562B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00375"/>
            <a:ext cx="5029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0CA183-871D-4E9C-A31F-E51244A0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95625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댓글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3FBA43-9AFC-41F6-BF6A-EC49C4A1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95625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작성·수정·삭제 권한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8D0EDE-1F73-4E74-83E9-5068CAB8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81425"/>
            <a:ext cx="5029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74F06F-8264-4C00-8645-93DA4528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76675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첨부파일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607522-FD46-4567-96B2-BFD7E77F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76675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확장자·용량·개수 제한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EE5400-8211-45CE-9D76-2AAC9A78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62475"/>
            <a:ext cx="5029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73EA32-EBA5-448D-8076-A2DBDF9A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57725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관리자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30B1FB-DEB8-4054-8CFB-9B412BEB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57725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공지 관리와 게시물 모더레이션</a:t>
            </a:r>
          </a:p>
        </p:txBody>
      </p:sp>
    </p:spTree>
    <p:extLst>
      <p:ext uri="{BB962C8B-B14F-4D97-AF65-F5344CB8AC3E}">
        <p14:creationId xmlns:p14="http://schemas.microsoft.com/office/powerpoint/2010/main" val="19647857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83E5AB-DDF5-4BA7-A199-CC7E0AC8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B3A2D-EA54-408D-A5E7-06D00B15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0"/>
            <a:ext cx="1571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DFB48-9DE1-428E-A20B-04A9594B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K-Digital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7E193-726B-4D8E-9999-2FDE5A7D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rPr>
              <a:t>03 ·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16F49-4998-4F0A-A72D-3CFA545C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프로젝트 수행 경과와 통합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A20A4-D91B-4CA8-9351-685E3106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기능별 산출물을 공통 DB와 관리자 관제 흐름으로 연결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17B73-6326-4167-A1AD-05BF64A5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824CF-D1D2-4A57-B66E-D40C187B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9784E-6150-49C9-9817-2E9F756B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K-Digital Training  ·  KH 아카데미 부산지원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6B665-4920-41F2-BD73-29477C90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C8401-0107-425A-AED7-30BF677A3A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02d955df44e63"/>
          <a:stretch xmlns:a="http://schemas.openxmlformats.org/drawingml/2006/main"/>
        </p:blipFill>
        <p:spPr>
          <a:xfrm xmlns:a="http://schemas.openxmlformats.org/drawingml/2006/main">
            <a:off x="8814955" y="6353175"/>
            <a:ext cx="1153391" cy="3429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C27F1-5F57-4558-92D8-6221BE9838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aaeb676614e45"/>
          <a:stretch xmlns:a="http://schemas.openxmlformats.org/drawingml/2006/main"/>
        </p:blipFill>
        <p:spPr>
          <a:xfrm xmlns:a="http://schemas.openxmlformats.org/drawingml/2006/main">
            <a:off x="10327005" y="6353175"/>
            <a:ext cx="1082040" cy="3429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2CB825-EEAB-4E0C-AD9C-8086E999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53365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70DAB-A389-451E-91D2-9166B96D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907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57EB7-8B83-487D-8033-1C299751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14625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34A751-C066-4F46-9A15-CE71727B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보안 운영·사용자 기능 구체화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926952-51B5-4943-AADB-7F729B8B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24150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5F385D-FC72-45D9-BC62-C013752B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47900"/>
            <a:ext cx="253365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AAB95F-1B43-4319-870A-0F7E52C4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907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77ACC4-F3E1-4F1E-A0A5-935508A0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14625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기능 개발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1039D6-C5A7-4457-B82A-451F007D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86100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Member·Community·SentinelOps·Security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56C8D7-5268-4B6F-8E28-D8F86F0C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24150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18A285-2E7C-4A66-A4F8-4B42096F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47900"/>
            <a:ext cx="253365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CE7D42-DCA8-4348-ADEC-C0693BC6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907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ED30AA-20D2-4B2D-B8C4-A6BB6434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14625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연결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748D12-23EE-4E00-B75A-1C9060A6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86100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공통 세션·DB·API Key 조회 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75863E-A754-4601-8150-2AE1359C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24150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9BF44E-4784-4C0E-9BB9-3F14AA28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47900"/>
            <a:ext cx="253365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C453E9-A16C-4A47-9117-4A72EF45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907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F3C84B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CFD7E6-6954-405E-A7A0-0F2EF442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14625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40FFA1-F8A0-4312-B647-1F92F4AE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86100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로컬 Tomcat·DB·REST API·Webhook 통합 검증 완료, 배포 환경 점검은 후속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1EF10C-0104-4C0D-9161-4124CDE6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715871-7233-4E3F-B0BF-F0077562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통합 결과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0517DB-C035-4202-B4A8-0F7D0735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95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D4CEE6-D8FD-43E4-9294-100E12DD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00575"/>
            <a:ext cx="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69C109-39BA-4FDA-B5DA-9173D269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00575"/>
            <a:ext cx="998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관리자 화면에서 인시던트와 보안 이벤트를 확인하고 상세 분석·상태 이력으로 연결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3A93A0-BE41-4ECE-8D52-3F95C3F9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14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3AD0B6-ED52-4934-B8AD-37AEFAEF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9675"/>
            <a:ext cx="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E02E1E-A630-493C-9ACE-035BAC0B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9675"/>
            <a:ext cx="998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외부 서비스 연동을 위한 incidents·security/events 조회 API와 API Key 인증 추가</a:t>
            </a:r>
          </a:p>
        </p:txBody>
      </p:sp>
    </p:spTree>
    <p:extLst>
      <p:ext uri="{BB962C8B-B14F-4D97-AF65-F5344CB8AC3E}">
        <p14:creationId xmlns:p14="http://schemas.microsoft.com/office/powerpoint/2010/main" val="13044137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209172-8D12-422F-9450-90289238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C115B-BBF3-4D28-860D-6839D7F2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0"/>
            <a:ext cx="1571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EF139-0343-40E6-AC49-2C2DE0F7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K-Digital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0F4BC-BAAA-480A-9312-CA0A013C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rPr>
              <a:t>04 ·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871A8-D0F4-4205-B282-91F8D7D2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데이터 설계와 보호 기준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B7C8F-BD8A-4B70-8E84-EECF17BD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단일 MySQL 스키마에 서비스 기능별 테이블을 구성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28BDC-D4C4-4FF9-B018-0526F94E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6783E-702D-4F9F-AF04-20B0FD61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F1F5E-0855-480C-A939-A17D87A7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K-Digital Training  ·  KH 아카데미 부산지원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FA0BA1-330F-42E1-BCF5-A868FA3E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C4070-7DA8-4739-BF83-CB65F0667D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8bda333ca4b9e"/>
          <a:stretch xmlns:a="http://schemas.openxmlformats.org/drawingml/2006/main"/>
        </p:blipFill>
        <p:spPr>
          <a:xfrm xmlns:a="http://schemas.openxmlformats.org/drawingml/2006/main">
            <a:off x="8814955" y="6353175"/>
            <a:ext cx="1153391" cy="3429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3C10E-4E21-4E20-8116-15B3C5DD8F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db0033653415d"/>
          <a:stretch xmlns:a="http://schemas.openxmlformats.org/drawingml/2006/main"/>
        </p:blipFill>
        <p:spPr>
          <a:xfrm xmlns:a="http://schemas.openxmlformats.org/drawingml/2006/main">
            <a:off x="10327005" y="6353175"/>
            <a:ext cx="1082040" cy="3429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0616F-B7D9-4278-8CBE-4261B8B5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762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DDE3F1-C783-4F2E-984F-BFDE5134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Member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AB51F6-377A-44A7-B3B1-D4CB14F8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20980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member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8046DE-F22B-4AFB-A7BF-17A64F21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6762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69AB1-BFA0-4426-A7A8-174A8F9E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Community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4F8CDC-D7B1-452E-B356-E531CCD7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0035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board · board_comment · board_file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7B589C-9158-47CE-9B6D-2DD2174A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6762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CCE5D9-1801-4612-BB7B-9E9B9669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Inquiry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259CF2-7250-46D1-AC8A-4D1E0B30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9090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inquiry · inquiry_file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FA4298-54B9-4F5D-ACA3-51A5DA53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6762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A5F3F9-B812-4406-9785-B34331BF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SentinelOps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ACCC25-5F9F-46EE-9EEA-02D4E3A4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98145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incident · analysis · alert · history · inquiry link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284750-EB16-466E-867C-D77851C3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6762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2F5E39-4D65-4CAE-9A44-C988A0B3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Security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6C7130-8005-4040-B3FA-615292E3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57200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security_event · analysis · alert · history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8F9002-0D0C-4D1F-9843-382948FA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33600"/>
            <a:ext cx="386715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F53105-5379-429C-A397-C1A776B4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보호 기준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6E42C5-68A6-4DFD-A956-1C549AC0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14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C0F38C-5641-413E-8C5B-56354B0A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19400"/>
            <a:ext cx="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D801F4-840C-451C-A530-B7430FEF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1940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비밀번호 단방향 해시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0E5F0E-3C04-41E0-AEE1-BDF04621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05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A8950C-DBC9-428F-81BB-0ADEE5CD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9925"/>
            <a:ext cx="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FE86A5-D125-4634-BA8D-F2F7CFB3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9925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민감 프롬프트·증거 마스킹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CC9527-7EA2-466B-B8BA-4170CC07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95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AAA2E8-4970-442A-A126-439314D6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0450"/>
            <a:ext cx="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EDFE41-CB65-4335-A846-2542ED71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045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출처 IP 해시 보관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DDDB01-336E-4B50-B7B9-8CF1F8CC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86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6BB6A0-0B76-457E-8AEC-DE492BF6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90975"/>
            <a:ext cx="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D7BFA2-BBBA-4583-82BB-C8A99918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90975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첨부파일 경로 비공개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C4CC40-D074-4AAD-9506-42FE88D1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6AB3F7-E0B9-470F-AC8E-3EE7BAB6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81500"/>
            <a:ext cx="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67A517-F5A1-4F0D-9F20-337CC409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8150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탈퇴 보유기간 정책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304988-0EE3-49C1-82FC-1DDC5F68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기능별 테이블 15개</a:t>
            </a:r>
          </a:p>
        </p:txBody>
      </p:sp>
    </p:spTree>
    <p:extLst>
      <p:ext uri="{BB962C8B-B14F-4D97-AF65-F5344CB8AC3E}">
        <p14:creationId xmlns:p14="http://schemas.microsoft.com/office/powerpoint/2010/main" val="343944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E454CF-A870-4313-BEFE-EA7BEF17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AD135-F01A-4E1F-A297-43FC587F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0"/>
            <a:ext cx="1571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DC9FE-528E-4D32-A1A2-025DAF61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K-Digital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0F30C-C346-4284-A80E-42634ACB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rPr>
              <a:t>04 ·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7F9C7-60CE-424A-B9D0-AFB1B220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구현 결과와 검증 상태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B0BF2-449F-401A-A93F-F01BCE53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2026년 10월 25일 소스·문서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0761A-0658-4F8D-9FA7-6036226F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33C5B-EE1A-42CE-BE4B-B78D105D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15024-0235-4474-A501-E3FB16EF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K-Digital Training  ·  KH 아카데미 부산지원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68708-8090-4A2F-B628-CAB65F76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AD1C9-A1C8-465D-8BF7-F4F5CE6ED2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3476360754a38"/>
          <a:stretch xmlns:a="http://schemas.openxmlformats.org/drawingml/2006/main"/>
        </p:blipFill>
        <p:spPr>
          <a:xfrm xmlns:a="http://schemas.openxmlformats.org/drawingml/2006/main">
            <a:off x="8814955" y="6353175"/>
            <a:ext cx="1153391" cy="3429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59BE4-21C8-4FBF-A866-F7C93A1F05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11ecea6b64036"/>
          <a:stretch xmlns:a="http://schemas.openxmlformats.org/drawingml/2006/main"/>
        </p:blipFill>
        <p:spPr>
          <a:xfrm xmlns:a="http://schemas.openxmlformats.org/drawingml/2006/main">
            <a:off x="10327005" y="6353175"/>
            <a:ext cx="1082040" cy="3429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9D025-2AD6-42D2-8A6D-4C36C35B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1FDD5-8580-4B0A-A699-E490B472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업무 기능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23167-30F3-4E1A-9759-B0C367B3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33600"/>
            <a:ext cx="8743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Member · Community · Inquiry · Admin 기본 화면과 권한 흐름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CF3CC5-C1EB-4BEE-A28E-3E0909A4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CCF255-47E6-45C1-8D4A-09594221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SentinelOps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08743-FF39-4620-8B35-60593C60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62250"/>
            <a:ext cx="8743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HTTP 5XX 기록 · 등급 분류 · 상태 이력 · AI 분석 · Slack 연동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950EBD-C3D3-4F44-BB36-8FF27D68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C1015-6281-4B29-97D1-B9FB9340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Security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1651B0-6C4C-46C5-AA6F-290FBA7A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90900"/>
            <a:ext cx="8743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웹·AI 입력 규칙 검사 · 이벤트 기록·집계 · 상세 관제·알림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488A4C-070C-4018-B4B0-29277102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8BFC31-ED03-46CC-8CBD-19F967C5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REST 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573442-45C3-4B1B-92B8-3F1FA643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19550"/>
            <a:ext cx="8743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incidents·security/events 목록·상세 GET · X-API-Key 인증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597D5C-3136-4FEA-9A87-E43F7893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72025"/>
            <a:ext cx="1047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57A8F4-B5CB-425B-A7EE-551790C6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검증 메모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08BF43-A930-460C-BFC3-87D5776C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5775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로컬 환경에서 Tomcat·DB 연결, REST API 실제 호출, Slack Webhook 동작을 확인했습니다. 실제 배포 환경 검증은 진행하지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8707755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CF2D4B-242D-4519-BCC5-11C8A419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D8C70-3B6C-42EF-8E8A-486021BD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0"/>
            <a:ext cx="1571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2C15E-C956-43B7-A665-A201CADA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K-Digital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BF743-4EA3-4519-95BF-E1D07F3C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rPr>
              <a:t>05 ·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0AA8F-5106-4F9E-8D4E-E3C22BC8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자체 평가 의견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A32B8-DB75-41EE-82B2-82411816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완성한 부분과 남은 확인 항목을 구분해 평가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3996F-8C4C-46F1-8F1C-3249F314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3DCA9-F294-436B-B6CF-254D0679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E6A26-19BB-4E10-A248-3461F56D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K-Digital Training  ·  KH 아카데미 부산지원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BED33-4FAE-4CC3-9DE9-959B8228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EDB64-9738-4310-8EDF-DC067CD0A6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81c865f48461a"/>
          <a:stretch xmlns:a="http://schemas.openxmlformats.org/drawingml/2006/main"/>
        </p:blipFill>
        <p:spPr>
          <a:xfrm xmlns:a="http://schemas.openxmlformats.org/drawingml/2006/main">
            <a:off x="8814955" y="6353175"/>
            <a:ext cx="1153391" cy="3429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681E90-D1D3-47AE-AC1C-6D0D212C3F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422a5efd84b2a"/>
          <a:stretch xmlns:a="http://schemas.openxmlformats.org/drawingml/2006/main"/>
        </p:blipFill>
        <p:spPr>
          <a:xfrm xmlns:a="http://schemas.openxmlformats.org/drawingml/2006/main">
            <a:off x="10327005" y="6353175"/>
            <a:ext cx="1082040" cy="3429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A35589-E977-48A9-83E5-7D4D842D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52387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9525">
            <a:solidFill>
              <a:srgbClr val="D4E9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CA166-12E5-4453-8B3E-FE225BBB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D8067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2D8067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2D8067"/>
                </a:solidFill>
                <a:latin typeface="맑은 고딕"/>
                <a:ea typeface="맑은 고딕"/>
                <a:cs typeface="맑은 고딕"/>
              </a:rPr>
              <a:t>잘한 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2BD92-4000-41E0-B16F-5630B6AE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0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0B2978-CD31-4E03-92EE-058C1813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43225"/>
            <a:ext cx="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00D4F5-85B3-4DC2-A22A-1DD533E5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43225"/>
            <a:ext cx="445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탐지 규칙과 AI 분석의 역할을 분리해 심각도 판단의 일관성을 확보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78C46F-1BF1-44CD-82DD-73FE3E00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0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0827E-5C86-432E-A07C-3B22AE79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9BD510-62A7-4F42-A7AF-700012E1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445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기능을 도메인별로 나누고 관리자 화면·DB·조회 API로 통합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065211-64FE-454A-9BEC-9DFC615D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0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2A09B8-BE35-4792-9F77-3F003DC5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36FCC5-E0B6-49C1-9C82-724A1665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445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민감정보 마스킹, API Key, 해시 저장 등 보안 기준을 반영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FC4A02-BDB5-4C18-B6CC-178DBE2A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52387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DC7B85-E360-4C9F-B8A9-7001D2AF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907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보완할 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E563EE-6C61-4BCA-9BC2-3C744831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38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02E894-62BB-4C19-A486-C59658EE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43225"/>
            <a:ext cx="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5C9E53-E161-49C4-AEE3-46EE8498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43225"/>
            <a:ext cx="445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운영 데이터를 활용해 탐지 규칙의 오탐률과 입력 유형별 커버리지를 점검할 필요가 있습니다.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5C975B-188B-4466-891B-FB24E97E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BFC02F-6841-4003-930F-3D4D4DCB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580E20-73E2-4DF7-A9F3-D1438678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45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실제 배포 환경에서 API와 Webhook 연동을 추가 검증해야 합니다.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80F2FF-0883-40D8-94B9-7261E76F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E3A9B9-69AA-4FA3-BB2D-1F01AE0F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05275"/>
            <a:ext cx="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429F1A-038D-4426-A018-46472505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05275"/>
            <a:ext cx="445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API 문서와 테스트 자동화를 보강해 다른 서비스에서 쉽게 연동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EC1123-E4EA-46B7-AD03-639F3EE8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팀 평가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A3941F-1B3F-47E0-BE3E-D4369040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57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172B4D"/>
                </a:solidFill>
                <a:latin typeface="맑은 고딕"/>
                <a:ea typeface="맑은 고딕"/>
                <a:cs typeface="맑은 고딕"/>
              </a:rPr>
              <a:t>주요 기능과 로컬 통합 검증을 완료했습니다. 실제 배포 환경 검증과 운영 데이터 기반 탐지 규칙 개선은 후속 과제로 남아 있습니다.</a:t>
            </a:r>
          </a:p>
        </p:txBody>
      </p:sp>
    </p:spTree>
    <p:extLst>
      <p:ext uri="{BB962C8B-B14F-4D97-AF65-F5344CB8AC3E}">
        <p14:creationId xmlns:p14="http://schemas.microsoft.com/office/powerpoint/2010/main" val="6071787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E98079-C635-4DFE-9C0A-D101A0EF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92317-AE63-43F3-B60A-61C73827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0"/>
            <a:ext cx="1571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F8115-9A82-4BA9-A6E0-6AF6301F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K-Digital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3895D-385B-4E16-A2C1-DBFE9CF8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4B8AC8"/>
                </a:solidFill>
                <a:latin typeface="맑은 고딕"/>
                <a:ea typeface="맑은 고딕"/>
                <a:cs typeface="맑은 고딕"/>
              </a:rPr>
              <a:t>05 · Q&amp;A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3D5C0-0FAA-46DB-BCE7-8B525805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질문과 답변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72DBE-867B-4C0C-B23F-EB52E868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질문과 의견을 받겠습니다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8228A-ACE5-4591-83B1-2628B519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0BF7D-53DF-4300-8B5D-271A5573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A4FCB-64F6-45BF-8144-CD0B588E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K-Digital Training  ·  KH 아카데미 부산지원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B6FBE-4D04-47FF-83A4-AC2CAF1F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3738A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C8E0F-6545-40A4-8324-6225283507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a92039ce8045f5"/>
          <a:stretch xmlns:a="http://schemas.openxmlformats.org/drawingml/2006/main"/>
        </p:blipFill>
        <p:spPr>
          <a:xfrm xmlns:a="http://schemas.openxmlformats.org/drawingml/2006/main">
            <a:off x="8814955" y="6353175"/>
            <a:ext cx="1153391" cy="3429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07E4A-00FD-4D4A-BB09-9522745A1F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08675ba83432b"/>
          <a:stretch xmlns:a="http://schemas.openxmlformats.org/drawingml/2006/main"/>
        </p:blipFill>
        <p:spPr>
          <a:xfrm xmlns:a="http://schemas.openxmlformats.org/drawingml/2006/main">
            <a:off x="10327005" y="6353175"/>
            <a:ext cx="1082040" cy="3429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CF0FEE-AF76-4429-8217-6E49683F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02A56"/>
                </a:solidFill>
                <a:latin typeface="맑은 고딕"/>
                <a:ea typeface="맑은 고딕"/>
                <a:cs typeface="맑은 고딕"/>
              </a:rPr>
              <a:t>질문을 받겠습니다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A85108-CD91-4858-8CCF-DA88DF39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2F6EB5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2F6EB5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923807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2026-10-16T08:24:04.3910000Z</dcterms:created>
  <dcterms:modified xsi:type="dcterms:W3CDTF">2026-10-16T08:24:04.3910000Z</dcterms:modified>
</coreProperties>
</file>